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73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does two things at the same time: Math Support and Logic Training, all in English.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keeps your child up to speed at school. Logic Training prepares them for problems they have never seen. And everything happens in English.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school in France, children follow the national programme: numbers and calculation, measurement, geometry and problem solving. French maths is not Singapore Math. But since 2018 it has been moving in the same direction: touch it, say it, then make it abstract. That is also how Singapore Math works, so the two fit together very well.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means we follow the same topics as the French programme, from CE1 to CM1. If your child is learning fractions at school, we work on fractions that month, using Singapore Math books as our teaching tool. First the child touches the idea, then draws it, then writes it. And they learn the English words for it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two ways to learn this. One is to memorise: three folds, seven creases. But if I ask about four folds, the child is stuck, because the answer was remembered, not understood. The other way is a method. Try small cases, draw them, and look for the rule: the parts double each time, and the creases are the parts minus one. So four folds give fifteen creases, five folds give thirty-one, and the child can answer any number. Memorising answers one question. A method answers the next one too.</a:t>
            </a:r>
          </a:p>
        </p:txBody>
      </p:sp>
      <p:sp>
        <p:nvSpPr>
          <p:cNvPr id="4" name="Slide Number Placeholder 3"/>
          <p:cNvSpPr>
            <a:spLocks noGrp="1"/>
          </p:cNvSpPr>
          <p:nvPr>
            <p:ph type="sldNum" sz="quarter" idx="10"/>
          </p:nvPr>
        </p:nvSpPr>
        <p:spPr/>
        <p:txBody>
          <a:bodyPr/>
          <a:lstStyle/>
          <a:p>
            <a:r>
              <a:t>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Training uses the same topic but asks a question the child has never seen. Fold a paper strip in half three times, then open it. How many creases do you see? There is no formula. The child tries small cases, draws them and finds the rule. One fold, one crease. Two folds, three creases. Three folds, seven. It is the same fractions, but now the child has to think, not just apply.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makes sure your child keeps up at school. Logic Training makes sure your child can handle new problems. English is the language they use to explain it, so the child does not just learn maths in English: they think in English. Same week, same idea. First support it, then stretch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058400" cy="457200"/>
          </a:xfrm>
          <a:prstGeom prst="rect">
            <a:avLst/>
          </a:prstGeom>
          <a:noFill/>
          <a:ln/>
        </p:spPr>
        <p:txBody>
          <a:bodyPr wrap="square" lIns="0" tIns="0" rIns="0" bIns="0" rtlCol="0" anchor="t"/>
          <a:lstStyle/>
          <a:p>
            <a:pPr marL="0" indent="0">
              <a:buNone/>
            </a:pPr>
            <a:r>
              <a:rPr lang="en-US" sz="2000" b="1" kern="0" spc="400" dirty="0">
                <a:solidFill>
                  <a:srgbClr val="F28C28"/>
                </a:solidFill>
                <a:latin typeface="Calibri" pitchFamily="34" charset="0"/>
                <a:ea typeface="Calibri" pitchFamily="34" charset="-122"/>
                <a:cs typeface="Calibri" pitchFamily="34" charset="-120"/>
              </a:rPr>
              <a:t>MATHS IN ENGLISH · NEUILLY-SUR-SEINE</a:t>
            </a:r>
            <a:endParaRPr lang="en-US" sz="2000" dirty="0"/>
          </a:p>
        </p:txBody>
      </p:sp>
      <p:sp>
        <p:nvSpPr>
          <p:cNvPr id="3" name="Text 1"/>
          <p:cNvSpPr txBox="1"/>
          <p:nvPr/>
        </p:nvSpPr>
        <p:spPr>
          <a:xfrm>
            <a:off x="822960" y="1645920"/>
            <a:ext cx="1051560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How it works</a:t>
            </a:r>
            <a:endParaRPr lang="en-US" sz="6400" dirty="0"/>
          </a:p>
        </p:txBody>
      </p:sp>
      <p:sp>
        <p:nvSpPr>
          <p:cNvPr id="4" name="Text 2"/>
          <p:cNvSpPr txBox="1"/>
          <p:nvPr/>
        </p:nvSpPr>
        <p:spPr>
          <a:xfrm>
            <a:off x="822960" y="2926080"/>
            <a:ext cx="10515600" cy="822960"/>
          </a:xfrm>
          <a:prstGeom prst="rect">
            <a:avLst/>
          </a:prstGeom>
          <a:noFill/>
          <a:ln/>
        </p:spPr>
        <p:txBody>
          <a:bodyPr wrap="square" lIns="0" tIns="0" rIns="0" bIns="0" rtlCol="0" anchor="ctr"/>
          <a:lstStyle/>
          <a:p>
            <a:pPr marL="0" indent="0">
              <a:buNone/>
            </a:pPr>
            <a:r>
              <a:rPr lang="en-US" sz="4000" dirty="0">
                <a:solidFill>
                  <a:srgbClr val="FFFFFF"/>
                </a:solidFill>
                <a:latin typeface="Calibri" pitchFamily="34" charset="0"/>
                <a:ea typeface="Calibri" pitchFamily="34" charset="-122"/>
                <a:cs typeface="Calibri" pitchFamily="34" charset="-120"/>
              </a:rPr>
              <a:t>Math Support + Logic Training</a:t>
            </a:r>
            <a:endParaRPr lang="en-US" sz="4000" dirty="0"/>
          </a:p>
        </p:txBody>
      </p:sp>
      <p:sp>
        <p:nvSpPr>
          <p:cNvPr id="5" name="Text 3"/>
          <p:cNvSpPr txBox="1"/>
          <p:nvPr/>
        </p:nvSpPr>
        <p:spPr>
          <a:xfrm>
            <a:off x="822960" y="3931920"/>
            <a:ext cx="10515600" cy="548640"/>
          </a:xfrm>
          <a:prstGeom prst="rect">
            <a:avLst/>
          </a:prstGeom>
          <a:noFill/>
          <a:ln/>
        </p:spPr>
        <p:txBody>
          <a:bodyPr wrap="square" lIns="0" tIns="0" rIns="0" bIns="0" rtlCol="0" anchor="t"/>
          <a:lstStyle/>
          <a:p>
            <a:pPr marL="0" indent="0">
              <a:buNone/>
            </a:pPr>
            <a:r>
              <a:rPr lang="en-US" sz="2400" dirty="0">
                <a:solidFill>
                  <a:srgbClr val="CADCFC"/>
                </a:solidFill>
                <a:latin typeface="Calibri" pitchFamily="34" charset="0"/>
                <a:ea typeface="Calibri" pitchFamily="34" charset="-122"/>
                <a:cs typeface="Calibri" pitchFamily="34" charset="-120"/>
              </a:rPr>
              <a:t>One programme · One language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Two things, at the same time</a:t>
            </a:r>
            <a:endParaRPr lang="en-US" sz="4400" dirty="0"/>
          </a:p>
        </p:txBody>
      </p:sp>
      <p:sp>
        <p:nvSpPr>
          <p:cNvPr id="3" name="Shape 1"/>
          <p:cNvSpPr/>
          <p:nvPr/>
        </p:nvSpPr>
        <p:spPr>
          <a:xfrm>
            <a:off x="640080" y="1554480"/>
            <a:ext cx="5212080" cy="3017520"/>
          </a:xfrm>
          <a:prstGeom prst="roundRect">
            <a:avLst>
              <a:gd name="adj" fmla="val 4545"/>
            </a:avLst>
          </a:prstGeom>
          <a:solidFill>
            <a:srgbClr val="EAF1FB"/>
          </a:solidFill>
          <a:ln/>
        </p:spPr>
        <p:txBody>
          <a:bodyPr/>
          <a:lstStyle/>
          <a:p>
            <a:endParaRPr lang="zh-CN" altLang="en-US"/>
          </a:p>
        </p:txBody>
      </p:sp>
      <p:sp>
        <p:nvSpPr>
          <p:cNvPr id="4" name="Text 2"/>
          <p:cNvSpPr txBox="1"/>
          <p:nvPr/>
        </p:nvSpPr>
        <p:spPr>
          <a:xfrm>
            <a:off x="1005840" y="1828800"/>
            <a:ext cx="4480560" cy="822960"/>
          </a:xfrm>
          <a:prstGeom prst="rect">
            <a:avLst/>
          </a:prstGeom>
          <a:noFill/>
          <a:ln/>
        </p:spPr>
        <p:txBody>
          <a:bodyPr wrap="square" lIns="0" tIns="0" rIns="0" bIns="0" rtlCol="0" anchor="ctr"/>
          <a:lstStyle/>
          <a:p>
            <a:pPr marL="0" indent="0">
              <a:buNone/>
            </a:pPr>
            <a:r>
              <a:rPr lang="en-US" sz="3800" b="1" dirty="0">
                <a:solidFill>
                  <a:srgbClr val="1B3A8C"/>
                </a:solidFill>
                <a:latin typeface="Calibri" pitchFamily="34" charset="0"/>
                <a:ea typeface="Calibri" pitchFamily="34" charset="-122"/>
                <a:cs typeface="Calibri" pitchFamily="34" charset="-120"/>
              </a:rPr>
              <a:t>Math Support</a:t>
            </a:r>
            <a:endParaRPr lang="en-US" sz="3800" dirty="0"/>
          </a:p>
        </p:txBody>
      </p:sp>
      <p:sp>
        <p:nvSpPr>
          <p:cNvPr id="5" name="Text 3"/>
          <p:cNvSpPr txBox="1"/>
          <p:nvPr/>
        </p:nvSpPr>
        <p:spPr>
          <a:xfrm>
            <a:off x="100584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Keep up at school</a:t>
            </a:r>
            <a:endParaRPr lang="en-US" sz="2800" dirty="0"/>
          </a:p>
        </p:txBody>
      </p:sp>
      <p:sp>
        <p:nvSpPr>
          <p:cNvPr id="6" name="Text 4"/>
          <p:cNvSpPr txBox="1"/>
          <p:nvPr/>
        </p:nvSpPr>
        <p:spPr>
          <a:xfrm>
            <a:off x="100584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Same topics as the French programme</a:t>
            </a:r>
            <a:endParaRPr lang="en-US" sz="2000" dirty="0"/>
          </a:p>
        </p:txBody>
      </p:sp>
      <p:sp>
        <p:nvSpPr>
          <p:cNvPr id="7" name="Shape 5"/>
          <p:cNvSpPr/>
          <p:nvPr/>
        </p:nvSpPr>
        <p:spPr>
          <a:xfrm>
            <a:off x="6492240" y="1554480"/>
            <a:ext cx="5212080" cy="3017520"/>
          </a:xfrm>
          <a:prstGeom prst="roundRect">
            <a:avLst>
              <a:gd name="adj" fmla="val 4545"/>
            </a:avLst>
          </a:prstGeom>
          <a:solidFill>
            <a:srgbClr val="EAF1FB"/>
          </a:solidFill>
          <a:ln/>
        </p:spPr>
        <p:txBody>
          <a:bodyPr/>
          <a:lstStyle/>
          <a:p>
            <a:endParaRPr lang="zh-CN" altLang="en-US"/>
          </a:p>
        </p:txBody>
      </p:sp>
      <p:sp>
        <p:nvSpPr>
          <p:cNvPr id="8" name="Text 6"/>
          <p:cNvSpPr txBox="1"/>
          <p:nvPr/>
        </p:nvSpPr>
        <p:spPr>
          <a:xfrm>
            <a:off x="6858000" y="1828800"/>
            <a:ext cx="4480560" cy="822960"/>
          </a:xfrm>
          <a:prstGeom prst="rect">
            <a:avLst/>
          </a:prstGeom>
          <a:noFill/>
          <a:ln/>
        </p:spPr>
        <p:txBody>
          <a:bodyPr wrap="square" lIns="0" tIns="0" rIns="0" bIns="0" rtlCol="0" anchor="ctr"/>
          <a:lstStyle/>
          <a:p>
            <a:pPr marL="0" indent="0">
              <a:buNone/>
            </a:pPr>
            <a:r>
              <a:rPr lang="en-US" sz="3800" b="1" dirty="0">
                <a:solidFill>
                  <a:srgbClr val="1FA37A"/>
                </a:solidFill>
                <a:latin typeface="Calibri" pitchFamily="34" charset="0"/>
                <a:ea typeface="Calibri" pitchFamily="34" charset="-122"/>
                <a:cs typeface="Calibri" pitchFamily="34" charset="-120"/>
              </a:rPr>
              <a:t>Logic Training</a:t>
            </a:r>
            <a:endParaRPr lang="en-US" sz="3800" dirty="0"/>
          </a:p>
        </p:txBody>
      </p:sp>
      <p:sp>
        <p:nvSpPr>
          <p:cNvPr id="9" name="Text 7"/>
          <p:cNvSpPr txBox="1"/>
          <p:nvPr/>
        </p:nvSpPr>
        <p:spPr>
          <a:xfrm>
            <a:off x="685800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Handle new problems</a:t>
            </a:r>
            <a:endParaRPr lang="en-US" sz="2800" dirty="0"/>
          </a:p>
        </p:txBody>
      </p:sp>
      <p:sp>
        <p:nvSpPr>
          <p:cNvPr id="10" name="Text 8"/>
          <p:cNvSpPr txBox="1"/>
          <p:nvPr/>
        </p:nvSpPr>
        <p:spPr>
          <a:xfrm>
            <a:off x="685800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Questions your child has never seen</a:t>
            </a:r>
            <a:endParaRPr lang="en-US" sz="2000" dirty="0"/>
          </a:p>
        </p:txBody>
      </p:sp>
      <p:sp>
        <p:nvSpPr>
          <p:cNvPr id="11" name="Shape 9"/>
          <p:cNvSpPr/>
          <p:nvPr/>
        </p:nvSpPr>
        <p:spPr>
          <a:xfrm>
            <a:off x="5669280" y="2743200"/>
            <a:ext cx="822960" cy="822960"/>
          </a:xfrm>
          <a:prstGeom prst="ellipse">
            <a:avLst/>
          </a:prstGeom>
          <a:solidFill>
            <a:srgbClr val="F28C28"/>
          </a:solidFill>
          <a:ln/>
        </p:spPr>
        <p:txBody>
          <a:bodyPr/>
          <a:lstStyle/>
          <a:p>
            <a:endParaRPr lang="zh-CN" altLang="en-US"/>
          </a:p>
        </p:txBody>
      </p:sp>
      <p:sp>
        <p:nvSpPr>
          <p:cNvPr id="12" name="Text 10"/>
          <p:cNvSpPr txBox="1"/>
          <p:nvPr/>
        </p:nvSpPr>
        <p:spPr>
          <a:xfrm>
            <a:off x="5669280" y="2743200"/>
            <a:ext cx="82296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13" name="Shape 11"/>
          <p:cNvSpPr/>
          <p:nvPr/>
        </p:nvSpPr>
        <p:spPr>
          <a:xfrm>
            <a:off x="640080" y="4892040"/>
            <a:ext cx="11064240" cy="1097280"/>
          </a:xfrm>
          <a:prstGeom prst="roundRect">
            <a:avLst>
              <a:gd name="adj" fmla="val 12500"/>
            </a:avLst>
          </a:prstGeom>
          <a:solidFill>
            <a:srgbClr val="1B3A8C"/>
          </a:solidFill>
          <a:ln/>
        </p:spPr>
        <p:txBody>
          <a:bodyPr/>
          <a:lstStyle/>
          <a:p>
            <a:endParaRPr lang="zh-CN" altLang="en-US"/>
          </a:p>
        </p:txBody>
      </p:sp>
      <p:sp>
        <p:nvSpPr>
          <p:cNvPr id="14" name="Text 12"/>
          <p:cNvSpPr txBox="1"/>
          <p:nvPr/>
        </p:nvSpPr>
        <p:spPr>
          <a:xfrm>
            <a:off x="640080" y="4892040"/>
            <a:ext cx="11064240" cy="10972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All in English: the language of reasoning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What French schools teach</a:t>
            </a:r>
            <a:endParaRPr lang="en-US" sz="4400" dirty="0"/>
          </a:p>
        </p:txBody>
      </p:sp>
      <p:sp>
        <p:nvSpPr>
          <p:cNvPr id="3" name="Shape 1"/>
          <p:cNvSpPr/>
          <p:nvPr/>
        </p:nvSpPr>
        <p:spPr>
          <a:xfrm>
            <a:off x="640080" y="1554480"/>
            <a:ext cx="5303520" cy="4206240"/>
          </a:xfrm>
          <a:prstGeom prst="roundRect">
            <a:avLst>
              <a:gd name="adj" fmla="val 3261"/>
            </a:avLst>
          </a:prstGeom>
          <a:solidFill>
            <a:srgbClr val="FFFFFF"/>
          </a:solidFill>
          <a:ln/>
        </p:spPr>
        <p:txBody>
          <a:bodyPr/>
          <a:lstStyle/>
          <a:p>
            <a:endParaRPr lang="zh-CN" altLang="en-US"/>
          </a:p>
        </p:txBody>
      </p:sp>
      <p:sp>
        <p:nvSpPr>
          <p:cNvPr id="4" name="Text 2"/>
          <p:cNvSpPr txBox="1"/>
          <p:nvPr/>
        </p:nvSpPr>
        <p:spPr>
          <a:xfrm>
            <a:off x="1005840" y="1828800"/>
            <a:ext cx="4572000" cy="45720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national programme</a:t>
            </a:r>
            <a:endParaRPr lang="en-US" sz="2200" dirty="0"/>
          </a:p>
        </p:txBody>
      </p:sp>
      <p:sp>
        <p:nvSpPr>
          <p:cNvPr id="5" name="Shape 3"/>
          <p:cNvSpPr/>
          <p:nvPr/>
        </p:nvSpPr>
        <p:spPr>
          <a:xfrm>
            <a:off x="1005840" y="2560320"/>
            <a:ext cx="640080" cy="640080"/>
          </a:xfrm>
          <a:prstGeom prst="ellipse">
            <a:avLst/>
          </a:prstGeom>
          <a:solidFill>
            <a:srgbClr val="1B3A8C"/>
          </a:solidFill>
          <a:ln/>
        </p:spPr>
        <p:txBody>
          <a:bodyPr/>
          <a:lstStyle/>
          <a:p>
            <a:endParaRPr lang="zh-CN" altLang="en-US"/>
          </a:p>
        </p:txBody>
      </p:sp>
      <p:sp>
        <p:nvSpPr>
          <p:cNvPr id="6" name="Text 4"/>
          <p:cNvSpPr txBox="1"/>
          <p:nvPr/>
        </p:nvSpPr>
        <p:spPr>
          <a:xfrm>
            <a:off x="1005840" y="2560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828800" y="256032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Numbers and calculation</a:t>
            </a:r>
            <a:endParaRPr lang="en-US" sz="2400" dirty="0"/>
          </a:p>
        </p:txBody>
      </p:sp>
      <p:sp>
        <p:nvSpPr>
          <p:cNvPr id="8" name="Shape 6"/>
          <p:cNvSpPr/>
          <p:nvPr/>
        </p:nvSpPr>
        <p:spPr>
          <a:xfrm>
            <a:off x="1005840" y="3337560"/>
            <a:ext cx="640080" cy="640080"/>
          </a:xfrm>
          <a:prstGeom prst="ellipse">
            <a:avLst/>
          </a:prstGeom>
          <a:solidFill>
            <a:srgbClr val="1FA37A"/>
          </a:solidFill>
          <a:ln/>
        </p:spPr>
        <p:txBody>
          <a:bodyPr/>
          <a:lstStyle/>
          <a:p>
            <a:endParaRPr lang="zh-CN" altLang="en-US"/>
          </a:p>
        </p:txBody>
      </p:sp>
      <p:sp>
        <p:nvSpPr>
          <p:cNvPr id="9" name="Text 7"/>
          <p:cNvSpPr txBox="1"/>
          <p:nvPr/>
        </p:nvSpPr>
        <p:spPr>
          <a:xfrm>
            <a:off x="1005840" y="33375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828800" y="333756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Measurement</a:t>
            </a:r>
            <a:endParaRPr lang="en-US" sz="2400" dirty="0"/>
          </a:p>
        </p:txBody>
      </p:sp>
      <p:sp>
        <p:nvSpPr>
          <p:cNvPr id="11" name="Shape 9"/>
          <p:cNvSpPr/>
          <p:nvPr/>
        </p:nvSpPr>
        <p:spPr>
          <a:xfrm>
            <a:off x="1005840" y="4114800"/>
            <a:ext cx="640080" cy="640080"/>
          </a:xfrm>
          <a:prstGeom prst="ellipse">
            <a:avLst/>
          </a:prstGeom>
          <a:solidFill>
            <a:srgbClr val="F28C28"/>
          </a:solidFill>
          <a:ln/>
        </p:spPr>
        <p:txBody>
          <a:bodyPr/>
          <a:lstStyle/>
          <a:p>
            <a:endParaRPr lang="zh-CN" altLang="en-US"/>
          </a:p>
        </p:txBody>
      </p:sp>
      <p:sp>
        <p:nvSpPr>
          <p:cNvPr id="12" name="Text 10"/>
          <p:cNvSpPr txBox="1"/>
          <p:nvPr/>
        </p:nvSpPr>
        <p:spPr>
          <a:xfrm>
            <a:off x="1005840" y="41148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1"/>
          <p:cNvSpPr txBox="1"/>
          <p:nvPr/>
        </p:nvSpPr>
        <p:spPr>
          <a:xfrm>
            <a:off x="1828800" y="411480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Geometry</a:t>
            </a:r>
            <a:endParaRPr lang="en-US" sz="2400" dirty="0"/>
          </a:p>
        </p:txBody>
      </p:sp>
      <p:sp>
        <p:nvSpPr>
          <p:cNvPr id="14" name="Shape 12"/>
          <p:cNvSpPr/>
          <p:nvPr/>
        </p:nvSpPr>
        <p:spPr>
          <a:xfrm>
            <a:off x="1005840" y="4892040"/>
            <a:ext cx="640080" cy="640080"/>
          </a:xfrm>
          <a:prstGeom prst="ellipse">
            <a:avLst/>
          </a:prstGeom>
          <a:solidFill>
            <a:srgbClr val="1B3A8C"/>
          </a:solidFill>
          <a:ln/>
        </p:spPr>
        <p:txBody>
          <a:bodyPr/>
          <a:lstStyle/>
          <a:p>
            <a:endParaRPr lang="zh-CN" altLang="en-US"/>
          </a:p>
        </p:txBody>
      </p:sp>
      <p:sp>
        <p:nvSpPr>
          <p:cNvPr id="15" name="Text 13"/>
          <p:cNvSpPr txBox="1"/>
          <p:nvPr/>
        </p:nvSpPr>
        <p:spPr>
          <a:xfrm>
            <a:off x="1005840" y="48920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6" name="Text 14"/>
          <p:cNvSpPr txBox="1"/>
          <p:nvPr/>
        </p:nvSpPr>
        <p:spPr>
          <a:xfrm>
            <a:off x="1828800" y="489204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Problem solving</a:t>
            </a:r>
            <a:endParaRPr lang="en-US" sz="2400" dirty="0"/>
          </a:p>
        </p:txBody>
      </p:sp>
      <p:sp>
        <p:nvSpPr>
          <p:cNvPr id="17" name="Shape 15"/>
          <p:cNvSpPr/>
          <p:nvPr/>
        </p:nvSpPr>
        <p:spPr>
          <a:xfrm>
            <a:off x="6309360" y="1554480"/>
            <a:ext cx="5394960" cy="4206240"/>
          </a:xfrm>
          <a:prstGeom prst="roundRect">
            <a:avLst>
              <a:gd name="adj" fmla="val 3261"/>
            </a:avLst>
          </a:prstGeom>
          <a:solidFill>
            <a:srgbClr val="1B3A8C"/>
          </a:solidFill>
          <a:ln/>
        </p:spPr>
        <p:txBody>
          <a:bodyPr/>
          <a:lstStyle/>
          <a:p>
            <a:endParaRPr lang="zh-CN" altLang="en-US"/>
          </a:p>
        </p:txBody>
      </p:sp>
      <p:sp>
        <p:nvSpPr>
          <p:cNvPr id="18" name="Text 16"/>
          <p:cNvSpPr txBox="1"/>
          <p:nvPr/>
        </p:nvSpPr>
        <p:spPr>
          <a:xfrm>
            <a:off x="6675120" y="1828800"/>
            <a:ext cx="4663440" cy="82296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direction</a:t>
            </a:r>
            <a:endParaRPr lang="en-US" sz="2200" dirty="0"/>
          </a:p>
        </p:txBody>
      </p:sp>
      <p:sp>
        <p:nvSpPr>
          <p:cNvPr id="19" name="Text 17"/>
          <p:cNvSpPr txBox="1"/>
          <p:nvPr/>
        </p:nvSpPr>
        <p:spPr>
          <a:xfrm>
            <a:off x="6675120" y="2743200"/>
            <a:ext cx="4663440" cy="1828800"/>
          </a:xfrm>
          <a:prstGeom prst="rect">
            <a:avLst/>
          </a:prstGeom>
          <a:noFill/>
          <a:ln/>
        </p:spPr>
        <p:txBody>
          <a:bodyPr wrap="square" lIns="0" tIns="0" rIns="0" bIns="0" rtlCol="0" anchor="t"/>
          <a:lstStyle/>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Touch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Say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Make it abstract</a:t>
            </a:r>
            <a:endParaRPr lang="en-US" sz="3400" dirty="0"/>
          </a:p>
        </p:txBody>
      </p:sp>
      <p:sp>
        <p:nvSpPr>
          <p:cNvPr id="20" name="Text 18"/>
          <p:cNvSpPr txBox="1"/>
          <p:nvPr/>
        </p:nvSpPr>
        <p:spPr>
          <a:xfrm>
            <a:off x="6675120" y="4663440"/>
            <a:ext cx="4663440" cy="91440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French math  </a:t>
            </a:r>
            <a:r>
              <a:rPr lang="en-US" altLang="zh-CN" dirty="0">
                <a:solidFill>
                  <a:srgbClr val="CADCFC"/>
                </a:solidFill>
                <a:latin typeface="Calibri" pitchFamily="34" charset="0"/>
                <a:ea typeface="Calibri" pitchFamily="34" charset="-122"/>
                <a:cs typeface="Calibri" pitchFamily="34" charset="-120"/>
              </a:rPr>
              <a:t>-&gt;</a:t>
            </a:r>
            <a:r>
              <a:rPr lang="en-US" sz="1800" dirty="0">
                <a:solidFill>
                  <a:srgbClr val="CADCFC"/>
                </a:solidFill>
                <a:latin typeface="Calibri" pitchFamily="34" charset="0"/>
                <a:ea typeface="Calibri" pitchFamily="34" charset="-122"/>
                <a:cs typeface="Calibri" pitchFamily="34" charset="-120"/>
              </a:rPr>
              <a:t> Singapore Math, but it points the same way.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Math Support</a:t>
            </a:r>
            <a:endParaRPr lang="en-US" sz="4400" dirty="0"/>
          </a:p>
        </p:txBody>
      </p:sp>
      <p:sp>
        <p:nvSpPr>
          <p:cNvPr id="3" name="Shape 1"/>
          <p:cNvSpPr/>
          <p:nvPr/>
        </p:nvSpPr>
        <p:spPr>
          <a:xfrm>
            <a:off x="640080" y="1463040"/>
            <a:ext cx="3383280" cy="3566160"/>
          </a:xfrm>
          <a:prstGeom prst="roundRect">
            <a:avLst>
              <a:gd name="adj" fmla="val 4054"/>
            </a:avLst>
          </a:prstGeom>
          <a:solidFill>
            <a:srgbClr val="EAF1FB"/>
          </a:solidFill>
          <a:ln/>
        </p:spPr>
        <p:txBody>
          <a:bodyPr/>
          <a:lstStyle/>
          <a:p>
            <a:endParaRPr lang="zh-CN" altLang="en-US"/>
          </a:p>
        </p:txBody>
      </p:sp>
      <p:sp>
        <p:nvSpPr>
          <p:cNvPr id="4" name="Text 2"/>
          <p:cNvSpPr txBox="1"/>
          <p:nvPr/>
        </p:nvSpPr>
        <p:spPr>
          <a:xfrm>
            <a:off x="960120" y="169164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Concrete</a:t>
            </a:r>
            <a:endParaRPr lang="en-US" sz="2800" dirty="0"/>
          </a:p>
        </p:txBody>
      </p:sp>
      <p:sp>
        <p:nvSpPr>
          <p:cNvPr id="5" name="Text 3"/>
          <p:cNvSpPr txBox="1"/>
          <p:nvPr/>
        </p:nvSpPr>
        <p:spPr>
          <a:xfrm>
            <a:off x="96012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touch it</a:t>
            </a:r>
            <a:endParaRPr lang="en-US" sz="2000" dirty="0"/>
          </a:p>
        </p:txBody>
      </p:sp>
      <p:sp>
        <p:nvSpPr>
          <p:cNvPr id="6" name="Shape 4"/>
          <p:cNvSpPr/>
          <p:nvPr/>
        </p:nvSpPr>
        <p:spPr>
          <a:xfrm>
            <a:off x="1097280" y="3200400"/>
            <a:ext cx="731520" cy="731520"/>
          </a:xfrm>
          <a:prstGeom prst="roundRect">
            <a:avLst>
              <a:gd name="adj" fmla="val 12500"/>
            </a:avLst>
          </a:prstGeom>
          <a:solidFill>
            <a:srgbClr val="1B3A8C"/>
          </a:solidFill>
          <a:ln/>
        </p:spPr>
        <p:txBody>
          <a:bodyPr/>
          <a:lstStyle/>
          <a:p>
            <a:endParaRPr lang="zh-CN" altLang="en-US"/>
          </a:p>
        </p:txBody>
      </p:sp>
      <p:sp>
        <p:nvSpPr>
          <p:cNvPr id="7" name="Shape 5"/>
          <p:cNvSpPr/>
          <p:nvPr/>
        </p:nvSpPr>
        <p:spPr>
          <a:xfrm>
            <a:off x="2011680" y="3200400"/>
            <a:ext cx="731520" cy="731520"/>
          </a:xfrm>
          <a:prstGeom prst="roundRect">
            <a:avLst>
              <a:gd name="adj" fmla="val 12500"/>
            </a:avLst>
          </a:prstGeom>
          <a:solidFill>
            <a:srgbClr val="1B3A8C"/>
          </a:solidFill>
          <a:ln/>
        </p:spPr>
        <p:txBody>
          <a:bodyPr/>
          <a:lstStyle/>
          <a:p>
            <a:endParaRPr lang="zh-CN" altLang="en-US"/>
          </a:p>
        </p:txBody>
      </p:sp>
      <p:sp>
        <p:nvSpPr>
          <p:cNvPr id="8" name="Shape 6"/>
          <p:cNvSpPr/>
          <p:nvPr/>
        </p:nvSpPr>
        <p:spPr>
          <a:xfrm>
            <a:off x="2926080" y="3200400"/>
            <a:ext cx="731520" cy="731520"/>
          </a:xfrm>
          <a:prstGeom prst="roundRect">
            <a:avLst>
              <a:gd name="adj" fmla="val 12500"/>
            </a:avLst>
          </a:prstGeom>
          <a:solidFill>
            <a:srgbClr val="1B3A8C"/>
          </a:solidFill>
          <a:ln/>
        </p:spPr>
        <p:txBody>
          <a:bodyPr/>
          <a:lstStyle/>
          <a:p>
            <a:endParaRPr lang="zh-CN" altLang="en-US"/>
          </a:p>
        </p:txBody>
      </p:sp>
      <p:sp>
        <p:nvSpPr>
          <p:cNvPr id="9" name="Shape 7"/>
          <p:cNvSpPr/>
          <p:nvPr/>
        </p:nvSpPr>
        <p:spPr>
          <a:xfrm>
            <a:off x="4069080" y="3108960"/>
            <a:ext cx="365760" cy="365760"/>
          </a:xfrm>
          <a:prstGeom prst="rightArrow">
            <a:avLst/>
          </a:prstGeom>
          <a:solidFill>
            <a:srgbClr val="F28C28"/>
          </a:solidFill>
          <a:ln/>
        </p:spPr>
        <p:txBody>
          <a:bodyPr/>
          <a:lstStyle/>
          <a:p>
            <a:endParaRPr lang="zh-CN" altLang="en-US"/>
          </a:p>
        </p:txBody>
      </p:sp>
      <p:sp>
        <p:nvSpPr>
          <p:cNvPr id="10" name="Shape 8"/>
          <p:cNvSpPr/>
          <p:nvPr/>
        </p:nvSpPr>
        <p:spPr>
          <a:xfrm>
            <a:off x="4480560" y="1463040"/>
            <a:ext cx="3383280" cy="3566160"/>
          </a:xfrm>
          <a:prstGeom prst="roundRect">
            <a:avLst>
              <a:gd name="adj" fmla="val 4054"/>
            </a:avLst>
          </a:prstGeom>
          <a:solidFill>
            <a:srgbClr val="EAF1FB"/>
          </a:solidFill>
          <a:ln/>
        </p:spPr>
        <p:txBody>
          <a:bodyPr/>
          <a:lstStyle/>
          <a:p>
            <a:endParaRPr lang="zh-CN" altLang="en-US"/>
          </a:p>
        </p:txBody>
      </p:sp>
      <p:sp>
        <p:nvSpPr>
          <p:cNvPr id="11" name="Text 9"/>
          <p:cNvSpPr txBox="1"/>
          <p:nvPr/>
        </p:nvSpPr>
        <p:spPr>
          <a:xfrm>
            <a:off x="4800600" y="1691640"/>
            <a:ext cx="2743200" cy="548640"/>
          </a:xfrm>
          <a:prstGeom prst="rect">
            <a:avLst/>
          </a:prstGeom>
          <a:noFill/>
          <a:ln/>
        </p:spPr>
        <p:txBody>
          <a:bodyPr wrap="square" lIns="0" tIns="0" rIns="0" bIns="0" rtlCol="0" anchor="t"/>
          <a:lstStyle/>
          <a:p>
            <a:pPr marL="0" indent="0">
              <a:buNone/>
            </a:pPr>
            <a:r>
              <a:rPr lang="en-US" sz="2800" b="1" dirty="0">
                <a:solidFill>
                  <a:srgbClr val="1FA37A"/>
                </a:solidFill>
                <a:latin typeface="Calibri" pitchFamily="34" charset="0"/>
                <a:ea typeface="Calibri" pitchFamily="34" charset="-122"/>
                <a:cs typeface="Calibri" pitchFamily="34" charset="-120"/>
              </a:rPr>
              <a:t>Pictorial</a:t>
            </a:r>
            <a:endParaRPr lang="en-US" sz="2800" dirty="0"/>
          </a:p>
        </p:txBody>
      </p:sp>
      <p:sp>
        <p:nvSpPr>
          <p:cNvPr id="12" name="Text 10"/>
          <p:cNvSpPr txBox="1"/>
          <p:nvPr/>
        </p:nvSpPr>
        <p:spPr>
          <a:xfrm>
            <a:off x="480060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draw it</a:t>
            </a:r>
            <a:endParaRPr lang="en-US" sz="2000" dirty="0"/>
          </a:p>
        </p:txBody>
      </p:sp>
      <p:sp>
        <p:nvSpPr>
          <p:cNvPr id="13" name="Shape 11"/>
          <p:cNvSpPr/>
          <p:nvPr/>
        </p:nvSpPr>
        <p:spPr>
          <a:xfrm>
            <a:off x="493776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4" name="Shape 12"/>
          <p:cNvSpPr/>
          <p:nvPr/>
        </p:nvSpPr>
        <p:spPr>
          <a:xfrm>
            <a:off x="553212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5" name="Shape 13"/>
          <p:cNvSpPr/>
          <p:nvPr/>
        </p:nvSpPr>
        <p:spPr>
          <a:xfrm>
            <a:off x="612648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6" name="Shape 14"/>
          <p:cNvSpPr/>
          <p:nvPr/>
        </p:nvSpPr>
        <p:spPr>
          <a:xfrm>
            <a:off x="6720840" y="3200400"/>
            <a:ext cx="594360" cy="731520"/>
          </a:xfrm>
          <a:prstGeom prst="rect">
            <a:avLst/>
          </a:prstGeom>
          <a:solidFill>
            <a:srgbClr val="FFFFFF"/>
          </a:solidFill>
          <a:ln w="25400">
            <a:solidFill>
              <a:srgbClr val="1FA37A"/>
            </a:solidFill>
            <a:prstDash val="solid"/>
          </a:ln>
        </p:spPr>
        <p:txBody>
          <a:bodyPr/>
          <a:lstStyle/>
          <a:p>
            <a:endParaRPr lang="zh-CN" altLang="en-US"/>
          </a:p>
        </p:txBody>
      </p:sp>
      <p:sp>
        <p:nvSpPr>
          <p:cNvPr id="17" name="Shape 15"/>
          <p:cNvSpPr/>
          <p:nvPr/>
        </p:nvSpPr>
        <p:spPr>
          <a:xfrm>
            <a:off x="7909560" y="3108960"/>
            <a:ext cx="365760" cy="365760"/>
          </a:xfrm>
          <a:prstGeom prst="rightArrow">
            <a:avLst/>
          </a:prstGeom>
          <a:solidFill>
            <a:srgbClr val="F28C28"/>
          </a:solidFill>
          <a:ln/>
        </p:spPr>
        <p:txBody>
          <a:bodyPr/>
          <a:lstStyle/>
          <a:p>
            <a:endParaRPr lang="zh-CN" altLang="en-US"/>
          </a:p>
        </p:txBody>
      </p:sp>
      <p:sp>
        <p:nvSpPr>
          <p:cNvPr id="18" name="Shape 16"/>
          <p:cNvSpPr/>
          <p:nvPr/>
        </p:nvSpPr>
        <p:spPr>
          <a:xfrm>
            <a:off x="8321040" y="1463040"/>
            <a:ext cx="3383280" cy="3566160"/>
          </a:xfrm>
          <a:prstGeom prst="roundRect">
            <a:avLst>
              <a:gd name="adj" fmla="val 4054"/>
            </a:avLst>
          </a:prstGeom>
          <a:solidFill>
            <a:srgbClr val="EAF1FB"/>
          </a:solidFill>
          <a:ln/>
        </p:spPr>
        <p:txBody>
          <a:bodyPr/>
          <a:lstStyle/>
          <a:p>
            <a:endParaRPr lang="zh-CN" altLang="en-US"/>
          </a:p>
        </p:txBody>
      </p:sp>
      <p:sp>
        <p:nvSpPr>
          <p:cNvPr id="19" name="Text 17"/>
          <p:cNvSpPr txBox="1"/>
          <p:nvPr/>
        </p:nvSpPr>
        <p:spPr>
          <a:xfrm>
            <a:off x="8641080" y="1691640"/>
            <a:ext cx="2743200" cy="548640"/>
          </a:xfrm>
          <a:prstGeom prst="rect">
            <a:avLst/>
          </a:prstGeom>
          <a:noFill/>
          <a:ln/>
        </p:spPr>
        <p:txBody>
          <a:bodyPr wrap="square" lIns="0" tIns="0" rIns="0" bIns="0" rtlCol="0" anchor="t"/>
          <a:lstStyle/>
          <a:p>
            <a:pPr marL="0" indent="0">
              <a:buNone/>
            </a:pPr>
            <a:r>
              <a:rPr lang="en-US" sz="2800" b="1" dirty="0">
                <a:solidFill>
                  <a:srgbClr val="F28C28"/>
                </a:solidFill>
                <a:latin typeface="Calibri" pitchFamily="34" charset="0"/>
                <a:ea typeface="Calibri" pitchFamily="34" charset="-122"/>
                <a:cs typeface="Calibri" pitchFamily="34" charset="-120"/>
              </a:rPr>
              <a:t>Abstract</a:t>
            </a:r>
            <a:endParaRPr lang="en-US" sz="2800" dirty="0"/>
          </a:p>
        </p:txBody>
      </p:sp>
      <p:sp>
        <p:nvSpPr>
          <p:cNvPr id="20" name="Text 18"/>
          <p:cNvSpPr txBox="1"/>
          <p:nvPr/>
        </p:nvSpPr>
        <p:spPr>
          <a:xfrm>
            <a:off x="864108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write it</a:t>
            </a:r>
            <a:endParaRPr lang="en-US" sz="2000" dirty="0"/>
          </a:p>
        </p:txBody>
      </p:sp>
      <p:sp>
        <p:nvSpPr>
          <p:cNvPr id="21" name="Text 19"/>
          <p:cNvSpPr txBox="1"/>
          <p:nvPr/>
        </p:nvSpPr>
        <p:spPr>
          <a:xfrm>
            <a:off x="8641080" y="2926080"/>
            <a:ext cx="2743200" cy="1280160"/>
          </a:xfrm>
          <a:prstGeom prst="rect">
            <a:avLst/>
          </a:prstGeom>
          <a:noFill/>
          <a:ln/>
        </p:spPr>
        <p:txBody>
          <a:bodyPr wrap="square" lIns="0" tIns="0" rIns="0" bIns="0" rtlCol="0" anchor="ctr"/>
          <a:lstStyle/>
          <a:p>
            <a:pPr marL="0" indent="0" algn="ctr">
              <a:buNone/>
            </a:pPr>
            <a:r>
              <a:rPr lang="en-US" sz="6600" b="1" dirty="0">
                <a:solidFill>
                  <a:srgbClr val="F28C28"/>
                </a:solidFill>
                <a:latin typeface="Calibri" pitchFamily="34" charset="0"/>
                <a:ea typeface="Calibri" pitchFamily="34" charset="-122"/>
                <a:cs typeface="Calibri" pitchFamily="34" charset="-120"/>
              </a:rPr>
              <a:t>3/4</a:t>
            </a:r>
            <a:endParaRPr lang="en-US" sz="6600" dirty="0"/>
          </a:p>
        </p:txBody>
      </p:sp>
      <p:sp>
        <p:nvSpPr>
          <p:cNvPr id="22" name="Shape 20"/>
          <p:cNvSpPr/>
          <p:nvPr/>
        </p:nvSpPr>
        <p:spPr>
          <a:xfrm>
            <a:off x="640080" y="5303520"/>
            <a:ext cx="11064240" cy="914400"/>
          </a:xfrm>
          <a:prstGeom prst="roundRect">
            <a:avLst>
              <a:gd name="adj" fmla="val 15000"/>
            </a:avLst>
          </a:prstGeom>
          <a:solidFill>
            <a:srgbClr val="1B3A8C"/>
          </a:solidFill>
          <a:ln/>
        </p:spPr>
        <p:txBody>
          <a:bodyPr/>
          <a:lstStyle/>
          <a:p>
            <a:endParaRPr lang="zh-CN" altLang="en-US"/>
          </a:p>
        </p:txBody>
      </p:sp>
      <p:sp>
        <p:nvSpPr>
          <p:cNvPr id="23" name="Text 21"/>
          <p:cNvSpPr txBox="1"/>
          <p:nvPr/>
        </p:nvSpPr>
        <p:spPr>
          <a:xfrm>
            <a:off x="822960" y="5303520"/>
            <a:ext cx="1069848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Same topics as school · CE1 → CM1 · Singapore Math books · English words learned along the way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lIns="0" tIns="0" rIns="0" bIns="0" anchor="ctr">
            <a:spAutoFit/>
          </a:bodyPr>
          <a:lstStyle/>
          <a:p>
            <a:pPr algn="l"/>
            <a:r>
              <a:rPr sz="4400" b="1" i="0">
                <a:solidFill>
                  <a:srgbClr val="1B3A8C"/>
                </a:solidFill>
                <a:latin typeface="Calibri"/>
              </a:rPr>
              <a:t>Two ways to learn</a:t>
            </a:r>
          </a:p>
        </p:txBody>
      </p:sp>
      <p:sp>
        <p:nvSpPr>
          <p:cNvPr id="3" name="Rounded Rectangle 2"/>
          <p:cNvSpPr/>
          <p:nvPr/>
        </p:nvSpPr>
        <p:spPr>
          <a:xfrm>
            <a:off x="64008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691640"/>
            <a:ext cx="4663440" cy="548640"/>
          </a:xfrm>
          <a:prstGeom prst="rect">
            <a:avLst/>
          </a:prstGeom>
          <a:noFill/>
        </p:spPr>
        <p:txBody>
          <a:bodyPr wrap="square" lIns="0" tIns="0" rIns="0" bIns="0" anchor="t">
            <a:spAutoFit/>
          </a:bodyPr>
          <a:lstStyle/>
          <a:p>
            <a:pPr algn="l"/>
            <a:r>
              <a:rPr sz="3000" b="1" i="0">
                <a:solidFill>
                  <a:srgbClr val="F28C28"/>
                </a:solidFill>
                <a:latin typeface="Calibri"/>
              </a:rPr>
              <a:t>Memorising</a:t>
            </a:r>
          </a:p>
        </p:txBody>
      </p:sp>
      <p:sp>
        <p:nvSpPr>
          <p:cNvPr id="5" name="TextBox 4"/>
          <p:cNvSpPr txBox="1"/>
          <p:nvPr/>
        </p:nvSpPr>
        <p:spPr>
          <a:xfrm>
            <a:off x="100584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learned answer</a:t>
            </a:r>
          </a:p>
        </p:txBody>
      </p:sp>
      <p:sp>
        <p:nvSpPr>
          <p:cNvPr id="6" name="Rounded Rectangle 5"/>
          <p:cNvSpPr/>
          <p:nvPr/>
        </p:nvSpPr>
        <p:spPr>
          <a:xfrm>
            <a:off x="1005840" y="2834640"/>
            <a:ext cx="466344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34640"/>
            <a:ext cx="4663440" cy="731520"/>
          </a:xfrm>
          <a:prstGeom prst="rect">
            <a:avLst/>
          </a:prstGeom>
          <a:noFill/>
        </p:spPr>
        <p:txBody>
          <a:bodyPr wrap="square" lIns="0" tIns="0" rIns="0" bIns="0" anchor="ctr">
            <a:spAutoFit/>
          </a:bodyPr>
          <a:lstStyle/>
          <a:p>
            <a:pPr algn="ctr"/>
            <a:r>
              <a:rPr sz="2600" b="1" i="0">
                <a:solidFill>
                  <a:srgbClr val="1B3A8C"/>
                </a:solidFill>
                <a:latin typeface="Calibri"/>
              </a:rPr>
              <a:t>3 folds = 7 creases</a:t>
            </a:r>
          </a:p>
        </p:txBody>
      </p:sp>
      <p:sp>
        <p:nvSpPr>
          <p:cNvPr id="8" name="TextBox 7"/>
          <p:cNvSpPr txBox="1"/>
          <p:nvPr/>
        </p:nvSpPr>
        <p:spPr>
          <a:xfrm>
            <a:off x="1005840" y="3749039"/>
            <a:ext cx="3383280" cy="640080"/>
          </a:xfrm>
          <a:prstGeom prst="rect">
            <a:avLst/>
          </a:prstGeom>
          <a:noFill/>
        </p:spPr>
        <p:txBody>
          <a:bodyPr wrap="square" lIns="0" tIns="0" rIns="0" bIns="0" anchor="t">
            <a:spAutoFit/>
          </a:bodyPr>
          <a:lstStyle/>
          <a:p>
            <a:pPr algn="l"/>
            <a:r>
              <a:rPr sz="2400" b="1" i="0">
                <a:solidFill>
                  <a:srgbClr val="1F2937"/>
                </a:solidFill>
                <a:latin typeface="Calibri"/>
              </a:rPr>
              <a:t>New question:</a:t>
            </a:r>
          </a:p>
          <a:p>
            <a:pPr algn="l"/>
            <a:r>
              <a:rPr sz="2400" b="1" i="0">
                <a:solidFill>
                  <a:srgbClr val="1F2937"/>
                </a:solidFill>
                <a:latin typeface="Calibri"/>
              </a:rPr>
              <a:t>4 folds?</a:t>
            </a:r>
          </a:p>
        </p:txBody>
      </p:sp>
      <p:sp>
        <p:nvSpPr>
          <p:cNvPr id="9" name="Oval 8"/>
          <p:cNvSpPr/>
          <p:nvPr/>
        </p:nvSpPr>
        <p:spPr>
          <a:xfrm>
            <a:off x="4480560" y="3749039"/>
            <a:ext cx="914400" cy="91440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3749039"/>
            <a:ext cx="914400" cy="914400"/>
          </a:xfrm>
          <a:prstGeom prst="rect">
            <a:avLst/>
          </a:prstGeom>
          <a:noFill/>
        </p:spPr>
        <p:txBody>
          <a:bodyPr wrap="square" lIns="0" tIns="0" rIns="0" bIns="0" anchor="ctr">
            <a:spAutoFit/>
          </a:bodyPr>
          <a:lstStyle/>
          <a:p>
            <a:pPr algn="ctr"/>
            <a:r>
              <a:rPr sz="4400" b="1" i="0">
                <a:solidFill>
                  <a:srgbClr val="FFFFFF"/>
                </a:solidFill>
                <a:latin typeface="Calibri"/>
              </a:rPr>
              <a:t>?</a:t>
            </a:r>
          </a:p>
        </p:txBody>
      </p:sp>
      <p:sp>
        <p:nvSpPr>
          <p:cNvPr id="11" name="TextBox 10"/>
          <p:cNvSpPr txBox="1"/>
          <p:nvPr/>
        </p:nvSpPr>
        <p:spPr>
          <a:xfrm>
            <a:off x="1005840" y="4754880"/>
            <a:ext cx="4663440" cy="411480"/>
          </a:xfrm>
          <a:prstGeom prst="rect">
            <a:avLst/>
          </a:prstGeom>
          <a:noFill/>
        </p:spPr>
        <p:txBody>
          <a:bodyPr wrap="square" lIns="0" tIns="0" rIns="0" bIns="0" anchor="t">
            <a:spAutoFit/>
          </a:bodyPr>
          <a:lstStyle/>
          <a:p>
            <a:pPr algn="l"/>
            <a:r>
              <a:rPr sz="1800" b="0" i="1">
                <a:solidFill>
                  <a:srgbClr val="5B6472"/>
                </a:solidFill>
                <a:latin typeface="Calibri"/>
              </a:rPr>
              <a:t>Stuck: remembered, not understood.</a:t>
            </a:r>
          </a:p>
        </p:txBody>
      </p:sp>
      <p:sp>
        <p:nvSpPr>
          <p:cNvPr id="12" name="Rounded Rectangle 11"/>
          <p:cNvSpPr/>
          <p:nvPr/>
        </p:nvSpPr>
        <p:spPr>
          <a:xfrm>
            <a:off x="6309360" y="1463040"/>
            <a:ext cx="5394960" cy="3840480"/>
          </a:xfrm>
          <a:prstGeom prst="roundRect">
            <a:avLst>
              <a:gd name="adj" fmla="val 2857"/>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691640"/>
            <a:ext cx="4663440" cy="548640"/>
          </a:xfrm>
          <a:prstGeom prst="rect">
            <a:avLst/>
          </a:prstGeom>
          <a:noFill/>
        </p:spPr>
        <p:txBody>
          <a:bodyPr wrap="square" lIns="0" tIns="0" rIns="0" bIns="0" anchor="t">
            <a:spAutoFit/>
          </a:bodyPr>
          <a:lstStyle/>
          <a:p>
            <a:pPr algn="l"/>
            <a:r>
              <a:rPr sz="3000" b="1" i="0">
                <a:solidFill>
                  <a:srgbClr val="1FA37A"/>
                </a:solidFill>
                <a:latin typeface="Calibri"/>
              </a:rPr>
              <a:t>With a method</a:t>
            </a:r>
          </a:p>
        </p:txBody>
      </p:sp>
      <p:sp>
        <p:nvSpPr>
          <p:cNvPr id="14" name="TextBox 13"/>
          <p:cNvSpPr txBox="1"/>
          <p:nvPr/>
        </p:nvSpPr>
        <p:spPr>
          <a:xfrm>
            <a:off x="6675120" y="2240280"/>
            <a:ext cx="4663440" cy="365760"/>
          </a:xfrm>
          <a:prstGeom prst="rect">
            <a:avLst/>
          </a:prstGeom>
          <a:noFill/>
        </p:spPr>
        <p:txBody>
          <a:bodyPr wrap="square" lIns="0" tIns="0" rIns="0" bIns="0" anchor="t">
            <a:spAutoFit/>
          </a:bodyPr>
          <a:lstStyle/>
          <a:p>
            <a:pPr algn="l"/>
            <a:r>
              <a:rPr sz="1800" b="0" i="0">
                <a:solidFill>
                  <a:srgbClr val="5B6472"/>
                </a:solidFill>
                <a:latin typeface="Calibri"/>
              </a:rPr>
              <a:t>a way to find any answer</a:t>
            </a:r>
          </a:p>
        </p:txBody>
      </p:sp>
      <p:sp>
        <p:nvSpPr>
          <p:cNvPr id="15" name="Rounded Rectangle 14"/>
          <p:cNvSpPr/>
          <p:nvPr/>
        </p:nvSpPr>
        <p:spPr>
          <a:xfrm>
            <a:off x="66751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1 fold</a:t>
            </a:r>
          </a:p>
        </p:txBody>
      </p:sp>
      <p:sp>
        <p:nvSpPr>
          <p:cNvPr id="17" name="TextBox 16"/>
          <p:cNvSpPr txBox="1"/>
          <p:nvPr/>
        </p:nvSpPr>
        <p:spPr>
          <a:xfrm>
            <a:off x="66751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1 crease</a:t>
            </a:r>
          </a:p>
        </p:txBody>
      </p:sp>
      <p:sp>
        <p:nvSpPr>
          <p:cNvPr id="18" name="Rounded Rectangle 17"/>
          <p:cNvSpPr/>
          <p:nvPr/>
        </p:nvSpPr>
        <p:spPr>
          <a:xfrm>
            <a:off x="82753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2 folds</a:t>
            </a:r>
          </a:p>
        </p:txBody>
      </p:sp>
      <p:sp>
        <p:nvSpPr>
          <p:cNvPr id="20" name="TextBox 19"/>
          <p:cNvSpPr txBox="1"/>
          <p:nvPr/>
        </p:nvSpPr>
        <p:spPr>
          <a:xfrm>
            <a:off x="82753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3 creases</a:t>
            </a:r>
          </a:p>
        </p:txBody>
      </p:sp>
      <p:sp>
        <p:nvSpPr>
          <p:cNvPr id="21" name="Rounded Rectangle 20"/>
          <p:cNvSpPr/>
          <p:nvPr/>
        </p:nvSpPr>
        <p:spPr>
          <a:xfrm>
            <a:off x="9875520" y="2834640"/>
            <a:ext cx="1417320" cy="7315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75520" y="2880360"/>
            <a:ext cx="1417320" cy="320040"/>
          </a:xfrm>
          <a:prstGeom prst="rect">
            <a:avLst/>
          </a:prstGeom>
          <a:noFill/>
        </p:spPr>
        <p:txBody>
          <a:bodyPr wrap="square" lIns="0" tIns="0" rIns="0" bIns="0" anchor="t">
            <a:spAutoFit/>
          </a:bodyPr>
          <a:lstStyle/>
          <a:p>
            <a:pPr algn="ctr"/>
            <a:r>
              <a:rPr sz="1500" b="0" i="0">
                <a:solidFill>
                  <a:srgbClr val="5B6472"/>
                </a:solidFill>
                <a:latin typeface="Calibri"/>
              </a:rPr>
              <a:t>3 folds</a:t>
            </a:r>
          </a:p>
        </p:txBody>
      </p:sp>
      <p:sp>
        <p:nvSpPr>
          <p:cNvPr id="23" name="TextBox 22"/>
          <p:cNvSpPr txBox="1"/>
          <p:nvPr/>
        </p:nvSpPr>
        <p:spPr>
          <a:xfrm>
            <a:off x="9875520" y="3154680"/>
            <a:ext cx="1417320" cy="365760"/>
          </a:xfrm>
          <a:prstGeom prst="rect">
            <a:avLst/>
          </a:prstGeom>
          <a:noFill/>
        </p:spPr>
        <p:txBody>
          <a:bodyPr wrap="square" lIns="0" tIns="0" rIns="0" bIns="0" anchor="t">
            <a:spAutoFit/>
          </a:bodyPr>
          <a:lstStyle/>
          <a:p>
            <a:pPr algn="ctr"/>
            <a:r>
              <a:rPr sz="1800" b="1" i="0">
                <a:solidFill>
                  <a:srgbClr val="1B3A8C"/>
                </a:solidFill>
                <a:latin typeface="Calibri"/>
              </a:rPr>
              <a:t>7 creases</a:t>
            </a:r>
          </a:p>
        </p:txBody>
      </p:sp>
      <p:sp>
        <p:nvSpPr>
          <p:cNvPr id="24" name="TextBox 23"/>
          <p:cNvSpPr txBox="1"/>
          <p:nvPr/>
        </p:nvSpPr>
        <p:spPr>
          <a:xfrm>
            <a:off x="6675120" y="3749039"/>
            <a:ext cx="4663440" cy="822960"/>
          </a:xfrm>
          <a:prstGeom prst="rect">
            <a:avLst/>
          </a:prstGeom>
          <a:noFill/>
        </p:spPr>
        <p:txBody>
          <a:bodyPr wrap="square" lIns="0" tIns="0" rIns="0" bIns="0" anchor="t">
            <a:spAutoFit/>
          </a:bodyPr>
          <a:lstStyle/>
          <a:p>
            <a:pPr algn="l"/>
            <a:r>
              <a:rPr sz="2200" b="1" i="0">
                <a:solidFill>
                  <a:srgbClr val="1F2937"/>
                </a:solidFill>
                <a:latin typeface="Calibri"/>
              </a:rPr>
              <a:t>The parts double each time.</a:t>
            </a:r>
          </a:p>
          <a:p>
            <a:pPr algn="l"/>
            <a:r>
              <a:rPr sz="2200" b="1" i="0">
                <a:solidFill>
                  <a:srgbClr val="1F2937"/>
                </a:solidFill>
                <a:latin typeface="Calibri"/>
              </a:rPr>
              <a:t>Creases = parts − 1</a:t>
            </a:r>
          </a:p>
        </p:txBody>
      </p:sp>
      <p:sp>
        <p:nvSpPr>
          <p:cNvPr id="25" name="Rounded Rectangle 24"/>
          <p:cNvSpPr/>
          <p:nvPr/>
        </p:nvSpPr>
        <p:spPr>
          <a:xfrm>
            <a:off x="6675120" y="4663440"/>
            <a:ext cx="4663440" cy="502920"/>
          </a:xfrm>
          <a:prstGeom prst="roundRect">
            <a:avLst>
              <a:gd name="adj" fmla="val 21818"/>
            </a:avLst>
          </a:prstGeom>
          <a:solidFill>
            <a:srgbClr val="1FA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4663440"/>
            <a:ext cx="4663440" cy="502920"/>
          </a:xfrm>
          <a:prstGeom prst="rect">
            <a:avLst/>
          </a:prstGeom>
          <a:noFill/>
        </p:spPr>
        <p:txBody>
          <a:bodyPr wrap="square" lIns="0" tIns="0" rIns="0" bIns="0" anchor="ctr">
            <a:spAutoFit/>
          </a:bodyPr>
          <a:lstStyle/>
          <a:p>
            <a:pPr algn="ctr"/>
            <a:r>
              <a:rPr sz="2200" b="1" i="0">
                <a:solidFill>
                  <a:srgbClr val="FFFFFF"/>
                </a:solidFill>
                <a:latin typeface="Calibri"/>
              </a:rPr>
              <a:t>4 folds → 15    5 folds → 31</a:t>
            </a:r>
          </a:p>
        </p:txBody>
      </p:sp>
      <p:sp>
        <p:nvSpPr>
          <p:cNvPr id="27" name="Rounded Rectangle 26"/>
          <p:cNvSpPr/>
          <p:nvPr/>
        </p:nvSpPr>
        <p:spPr>
          <a:xfrm>
            <a:off x="640080" y="5532120"/>
            <a:ext cx="11064240" cy="731520"/>
          </a:xfrm>
          <a:prstGeom prst="roundRect">
            <a:avLst>
              <a:gd name="adj" fmla="val 15000"/>
            </a:avLst>
          </a:prstGeom>
          <a:solidFill>
            <a:srgbClr val="1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5532120"/>
            <a:ext cx="11064240" cy="731520"/>
          </a:xfrm>
          <a:prstGeom prst="rect">
            <a:avLst/>
          </a:prstGeom>
          <a:noFill/>
        </p:spPr>
        <p:txBody>
          <a:bodyPr wrap="square" lIns="0" tIns="0" rIns="0" bIns="0" anchor="ctr">
            <a:spAutoFit/>
          </a:bodyPr>
          <a:lstStyle/>
          <a:p>
            <a:pPr algn="ctr"/>
            <a:r>
              <a:rPr sz="2600" b="1" i="0">
                <a:solidFill>
                  <a:srgbClr val="FFFFFF"/>
                </a:solidFill>
                <a:latin typeface="Calibri"/>
              </a:rPr>
              <a:t>Memorising answers one question. A method answers the next one too.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Logic Training</a:t>
            </a:r>
            <a:endParaRPr lang="en-US" sz="4400" dirty="0"/>
          </a:p>
        </p:txBody>
      </p:sp>
      <p:sp>
        <p:nvSpPr>
          <p:cNvPr id="3" name="Shape 1"/>
          <p:cNvSpPr/>
          <p:nvPr/>
        </p:nvSpPr>
        <p:spPr>
          <a:xfrm>
            <a:off x="640080" y="1371600"/>
            <a:ext cx="11064240" cy="1097280"/>
          </a:xfrm>
          <a:prstGeom prst="roundRect">
            <a:avLst>
              <a:gd name="adj" fmla="val 12500"/>
            </a:avLst>
          </a:prstGeom>
          <a:solidFill>
            <a:srgbClr val="1B3A8C"/>
          </a:solidFill>
          <a:ln/>
        </p:spPr>
        <p:txBody>
          <a:bodyPr/>
          <a:lstStyle/>
          <a:p>
            <a:endParaRPr lang="zh-CN" altLang="en-US"/>
          </a:p>
        </p:txBody>
      </p:sp>
      <p:sp>
        <p:nvSpPr>
          <p:cNvPr id="4" name="Text 2"/>
          <p:cNvSpPr txBox="1"/>
          <p:nvPr/>
        </p:nvSpPr>
        <p:spPr>
          <a:xfrm>
            <a:off x="914400" y="1371600"/>
            <a:ext cx="10515600" cy="10972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Same topic, new question: fold a paper strip in half 3 times, then open it. How many creases?</a:t>
            </a:r>
            <a:endParaRPr lang="en-US" sz="2600" dirty="0"/>
          </a:p>
        </p:txBody>
      </p:sp>
      <p:sp>
        <p:nvSpPr>
          <p:cNvPr id="5" name="Shape 3"/>
          <p:cNvSpPr/>
          <p:nvPr/>
        </p:nvSpPr>
        <p:spPr>
          <a:xfrm>
            <a:off x="640080" y="2697480"/>
            <a:ext cx="3383280" cy="2286000"/>
          </a:xfrm>
          <a:prstGeom prst="roundRect">
            <a:avLst>
              <a:gd name="adj" fmla="val 6000"/>
            </a:avLst>
          </a:prstGeom>
          <a:solidFill>
            <a:srgbClr val="FFFFFF"/>
          </a:solidFill>
          <a:ln/>
        </p:spPr>
        <p:txBody>
          <a:bodyPr/>
          <a:lstStyle/>
          <a:p>
            <a:endParaRPr lang="zh-CN" altLang="en-US"/>
          </a:p>
        </p:txBody>
      </p:sp>
      <p:sp>
        <p:nvSpPr>
          <p:cNvPr id="6" name="Shape 4"/>
          <p:cNvSpPr/>
          <p:nvPr/>
        </p:nvSpPr>
        <p:spPr>
          <a:xfrm>
            <a:off x="96012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7" name="Shape 5"/>
          <p:cNvSpPr/>
          <p:nvPr/>
        </p:nvSpPr>
        <p:spPr>
          <a:xfrm>
            <a:off x="2331720" y="2971800"/>
            <a:ext cx="0" cy="640080"/>
          </a:xfrm>
          <a:prstGeom prst="line">
            <a:avLst/>
          </a:prstGeom>
          <a:noFill/>
          <a:ln w="38100">
            <a:solidFill>
              <a:srgbClr val="F28C28"/>
            </a:solidFill>
            <a:prstDash val="solid"/>
          </a:ln>
        </p:spPr>
        <p:txBody>
          <a:bodyPr/>
          <a:lstStyle/>
          <a:p>
            <a:endParaRPr lang="zh-CN" altLang="en-US"/>
          </a:p>
        </p:txBody>
      </p:sp>
      <p:sp>
        <p:nvSpPr>
          <p:cNvPr id="8" name="Text 6"/>
          <p:cNvSpPr txBox="1"/>
          <p:nvPr/>
        </p:nvSpPr>
        <p:spPr>
          <a:xfrm>
            <a:off x="96012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1 fold</a:t>
            </a:r>
            <a:endParaRPr lang="en-US" sz="2200" dirty="0"/>
          </a:p>
        </p:txBody>
      </p:sp>
      <p:sp>
        <p:nvSpPr>
          <p:cNvPr id="9" name="Text 7"/>
          <p:cNvSpPr txBox="1"/>
          <p:nvPr/>
        </p:nvSpPr>
        <p:spPr>
          <a:xfrm>
            <a:off x="96012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1 crease</a:t>
            </a:r>
            <a:endParaRPr lang="en-US" sz="2800" dirty="0"/>
          </a:p>
        </p:txBody>
      </p:sp>
      <p:sp>
        <p:nvSpPr>
          <p:cNvPr id="10" name="Shape 8"/>
          <p:cNvSpPr/>
          <p:nvPr/>
        </p:nvSpPr>
        <p:spPr>
          <a:xfrm>
            <a:off x="4480560" y="2697480"/>
            <a:ext cx="3383280" cy="2286000"/>
          </a:xfrm>
          <a:prstGeom prst="roundRect">
            <a:avLst>
              <a:gd name="adj" fmla="val 6000"/>
            </a:avLst>
          </a:prstGeom>
          <a:solidFill>
            <a:srgbClr val="FFFFFF"/>
          </a:solidFill>
          <a:ln/>
        </p:spPr>
        <p:txBody>
          <a:bodyPr/>
          <a:lstStyle/>
          <a:p>
            <a:endParaRPr lang="zh-CN" altLang="en-US"/>
          </a:p>
        </p:txBody>
      </p:sp>
      <p:sp>
        <p:nvSpPr>
          <p:cNvPr id="11" name="Shape 9"/>
          <p:cNvSpPr/>
          <p:nvPr/>
        </p:nvSpPr>
        <p:spPr>
          <a:xfrm>
            <a:off x="480060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2" name="Shape 10"/>
          <p:cNvSpPr/>
          <p:nvPr/>
        </p:nvSpPr>
        <p:spPr>
          <a:xfrm>
            <a:off x="5486400" y="2971800"/>
            <a:ext cx="0" cy="640080"/>
          </a:xfrm>
          <a:prstGeom prst="line">
            <a:avLst/>
          </a:prstGeom>
          <a:noFill/>
          <a:ln w="38100">
            <a:solidFill>
              <a:srgbClr val="F28C28"/>
            </a:solidFill>
            <a:prstDash val="solid"/>
          </a:ln>
        </p:spPr>
        <p:txBody>
          <a:bodyPr/>
          <a:lstStyle/>
          <a:p>
            <a:endParaRPr lang="zh-CN" altLang="en-US"/>
          </a:p>
        </p:txBody>
      </p:sp>
      <p:sp>
        <p:nvSpPr>
          <p:cNvPr id="13" name="Shape 11"/>
          <p:cNvSpPr/>
          <p:nvPr/>
        </p:nvSpPr>
        <p:spPr>
          <a:xfrm>
            <a:off x="6172200" y="2971800"/>
            <a:ext cx="0" cy="640080"/>
          </a:xfrm>
          <a:prstGeom prst="line">
            <a:avLst/>
          </a:prstGeom>
          <a:noFill/>
          <a:ln w="38100">
            <a:solidFill>
              <a:srgbClr val="F28C28"/>
            </a:solidFill>
            <a:prstDash val="solid"/>
          </a:ln>
        </p:spPr>
        <p:txBody>
          <a:bodyPr/>
          <a:lstStyle/>
          <a:p>
            <a:endParaRPr lang="zh-CN" altLang="en-US"/>
          </a:p>
        </p:txBody>
      </p:sp>
      <p:sp>
        <p:nvSpPr>
          <p:cNvPr id="14" name="Shape 12"/>
          <p:cNvSpPr/>
          <p:nvPr/>
        </p:nvSpPr>
        <p:spPr>
          <a:xfrm>
            <a:off x="6858000" y="2971800"/>
            <a:ext cx="0" cy="640080"/>
          </a:xfrm>
          <a:prstGeom prst="line">
            <a:avLst/>
          </a:prstGeom>
          <a:noFill/>
          <a:ln w="38100">
            <a:solidFill>
              <a:srgbClr val="F28C28"/>
            </a:solidFill>
            <a:prstDash val="solid"/>
          </a:ln>
        </p:spPr>
        <p:txBody>
          <a:bodyPr/>
          <a:lstStyle/>
          <a:p>
            <a:endParaRPr lang="zh-CN" altLang="en-US"/>
          </a:p>
        </p:txBody>
      </p:sp>
      <p:sp>
        <p:nvSpPr>
          <p:cNvPr id="15" name="Text 13"/>
          <p:cNvSpPr txBox="1"/>
          <p:nvPr/>
        </p:nvSpPr>
        <p:spPr>
          <a:xfrm>
            <a:off x="480060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2 folds</a:t>
            </a:r>
            <a:endParaRPr lang="en-US" sz="2200" dirty="0"/>
          </a:p>
        </p:txBody>
      </p:sp>
      <p:sp>
        <p:nvSpPr>
          <p:cNvPr id="16" name="Text 14"/>
          <p:cNvSpPr txBox="1"/>
          <p:nvPr/>
        </p:nvSpPr>
        <p:spPr>
          <a:xfrm>
            <a:off x="480060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3 creases</a:t>
            </a:r>
            <a:endParaRPr lang="en-US" sz="2800" dirty="0"/>
          </a:p>
        </p:txBody>
      </p:sp>
      <p:sp>
        <p:nvSpPr>
          <p:cNvPr id="17" name="Shape 15"/>
          <p:cNvSpPr/>
          <p:nvPr/>
        </p:nvSpPr>
        <p:spPr>
          <a:xfrm>
            <a:off x="8321040" y="2697480"/>
            <a:ext cx="3383280" cy="2286000"/>
          </a:xfrm>
          <a:prstGeom prst="roundRect">
            <a:avLst>
              <a:gd name="adj" fmla="val 6000"/>
            </a:avLst>
          </a:prstGeom>
          <a:solidFill>
            <a:srgbClr val="FFFFFF"/>
          </a:solidFill>
          <a:ln/>
        </p:spPr>
        <p:txBody>
          <a:bodyPr/>
          <a:lstStyle/>
          <a:p>
            <a:endParaRPr lang="zh-CN" altLang="en-US"/>
          </a:p>
        </p:txBody>
      </p:sp>
      <p:sp>
        <p:nvSpPr>
          <p:cNvPr id="18" name="Shape 16"/>
          <p:cNvSpPr/>
          <p:nvPr/>
        </p:nvSpPr>
        <p:spPr>
          <a:xfrm>
            <a:off x="864108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9" name="Shape 17"/>
          <p:cNvSpPr/>
          <p:nvPr/>
        </p:nvSpPr>
        <p:spPr>
          <a:xfrm>
            <a:off x="8983980" y="2971800"/>
            <a:ext cx="0" cy="640080"/>
          </a:xfrm>
          <a:prstGeom prst="line">
            <a:avLst/>
          </a:prstGeom>
          <a:noFill/>
          <a:ln w="38100">
            <a:solidFill>
              <a:srgbClr val="F28C28"/>
            </a:solidFill>
            <a:prstDash val="solid"/>
          </a:ln>
        </p:spPr>
        <p:txBody>
          <a:bodyPr/>
          <a:lstStyle/>
          <a:p>
            <a:endParaRPr lang="zh-CN" altLang="en-US"/>
          </a:p>
        </p:txBody>
      </p:sp>
      <p:sp>
        <p:nvSpPr>
          <p:cNvPr id="20" name="Shape 18"/>
          <p:cNvSpPr/>
          <p:nvPr/>
        </p:nvSpPr>
        <p:spPr>
          <a:xfrm>
            <a:off x="9326880" y="2971800"/>
            <a:ext cx="0" cy="640080"/>
          </a:xfrm>
          <a:prstGeom prst="line">
            <a:avLst/>
          </a:prstGeom>
          <a:noFill/>
          <a:ln w="38100">
            <a:solidFill>
              <a:srgbClr val="F28C28"/>
            </a:solidFill>
            <a:prstDash val="solid"/>
          </a:ln>
        </p:spPr>
        <p:txBody>
          <a:bodyPr/>
          <a:lstStyle/>
          <a:p>
            <a:endParaRPr lang="zh-CN" altLang="en-US"/>
          </a:p>
        </p:txBody>
      </p:sp>
      <p:sp>
        <p:nvSpPr>
          <p:cNvPr id="21" name="Shape 19"/>
          <p:cNvSpPr/>
          <p:nvPr/>
        </p:nvSpPr>
        <p:spPr>
          <a:xfrm>
            <a:off x="9669780" y="2971800"/>
            <a:ext cx="0" cy="640080"/>
          </a:xfrm>
          <a:prstGeom prst="line">
            <a:avLst/>
          </a:prstGeom>
          <a:noFill/>
          <a:ln w="38100">
            <a:solidFill>
              <a:srgbClr val="F28C28"/>
            </a:solidFill>
            <a:prstDash val="solid"/>
          </a:ln>
        </p:spPr>
        <p:txBody>
          <a:bodyPr/>
          <a:lstStyle/>
          <a:p>
            <a:endParaRPr lang="zh-CN" altLang="en-US"/>
          </a:p>
        </p:txBody>
      </p:sp>
      <p:sp>
        <p:nvSpPr>
          <p:cNvPr id="22" name="Shape 20"/>
          <p:cNvSpPr/>
          <p:nvPr/>
        </p:nvSpPr>
        <p:spPr>
          <a:xfrm>
            <a:off x="10012680" y="2971800"/>
            <a:ext cx="0" cy="640080"/>
          </a:xfrm>
          <a:prstGeom prst="line">
            <a:avLst/>
          </a:prstGeom>
          <a:noFill/>
          <a:ln w="38100">
            <a:solidFill>
              <a:srgbClr val="F28C28"/>
            </a:solidFill>
            <a:prstDash val="solid"/>
          </a:ln>
        </p:spPr>
        <p:txBody>
          <a:bodyPr/>
          <a:lstStyle/>
          <a:p>
            <a:endParaRPr lang="zh-CN" altLang="en-US"/>
          </a:p>
        </p:txBody>
      </p:sp>
      <p:sp>
        <p:nvSpPr>
          <p:cNvPr id="23" name="Shape 21"/>
          <p:cNvSpPr/>
          <p:nvPr/>
        </p:nvSpPr>
        <p:spPr>
          <a:xfrm>
            <a:off x="10355580" y="2971800"/>
            <a:ext cx="0" cy="640080"/>
          </a:xfrm>
          <a:prstGeom prst="line">
            <a:avLst/>
          </a:prstGeom>
          <a:noFill/>
          <a:ln w="38100">
            <a:solidFill>
              <a:srgbClr val="F28C28"/>
            </a:solidFill>
            <a:prstDash val="solid"/>
          </a:ln>
        </p:spPr>
        <p:txBody>
          <a:bodyPr/>
          <a:lstStyle/>
          <a:p>
            <a:endParaRPr lang="zh-CN" altLang="en-US"/>
          </a:p>
        </p:txBody>
      </p:sp>
      <p:sp>
        <p:nvSpPr>
          <p:cNvPr id="24" name="Shape 22"/>
          <p:cNvSpPr/>
          <p:nvPr/>
        </p:nvSpPr>
        <p:spPr>
          <a:xfrm>
            <a:off x="10698480" y="2971800"/>
            <a:ext cx="0" cy="640080"/>
          </a:xfrm>
          <a:prstGeom prst="line">
            <a:avLst/>
          </a:prstGeom>
          <a:noFill/>
          <a:ln w="38100">
            <a:solidFill>
              <a:srgbClr val="F28C28"/>
            </a:solidFill>
            <a:prstDash val="solid"/>
          </a:ln>
        </p:spPr>
        <p:txBody>
          <a:bodyPr/>
          <a:lstStyle/>
          <a:p>
            <a:endParaRPr lang="zh-CN" altLang="en-US"/>
          </a:p>
        </p:txBody>
      </p:sp>
      <p:sp>
        <p:nvSpPr>
          <p:cNvPr id="25" name="Shape 23"/>
          <p:cNvSpPr/>
          <p:nvPr/>
        </p:nvSpPr>
        <p:spPr>
          <a:xfrm>
            <a:off x="11041380" y="2971800"/>
            <a:ext cx="0" cy="640080"/>
          </a:xfrm>
          <a:prstGeom prst="line">
            <a:avLst/>
          </a:prstGeom>
          <a:noFill/>
          <a:ln w="38100">
            <a:solidFill>
              <a:srgbClr val="F28C28"/>
            </a:solidFill>
            <a:prstDash val="solid"/>
          </a:ln>
        </p:spPr>
        <p:txBody>
          <a:bodyPr/>
          <a:lstStyle/>
          <a:p>
            <a:endParaRPr lang="zh-CN" altLang="en-US"/>
          </a:p>
        </p:txBody>
      </p:sp>
      <p:sp>
        <p:nvSpPr>
          <p:cNvPr id="26" name="Text 24"/>
          <p:cNvSpPr txBox="1"/>
          <p:nvPr/>
        </p:nvSpPr>
        <p:spPr>
          <a:xfrm>
            <a:off x="864108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3 folds</a:t>
            </a:r>
            <a:endParaRPr lang="en-US" sz="2200" dirty="0"/>
          </a:p>
        </p:txBody>
      </p:sp>
      <p:sp>
        <p:nvSpPr>
          <p:cNvPr id="27" name="Text 25"/>
          <p:cNvSpPr txBox="1"/>
          <p:nvPr/>
        </p:nvSpPr>
        <p:spPr>
          <a:xfrm>
            <a:off x="864108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7 creases</a:t>
            </a:r>
            <a:endParaRPr lang="en-US" sz="2800" dirty="0"/>
          </a:p>
        </p:txBody>
      </p:sp>
      <p:sp>
        <p:nvSpPr>
          <p:cNvPr id="28" name="Shape 26"/>
          <p:cNvSpPr/>
          <p:nvPr/>
        </p:nvSpPr>
        <p:spPr>
          <a:xfrm>
            <a:off x="640080" y="5303520"/>
            <a:ext cx="2560320" cy="822960"/>
          </a:xfrm>
          <a:prstGeom prst="roundRect">
            <a:avLst>
              <a:gd name="adj" fmla="val 13333"/>
            </a:avLst>
          </a:prstGeom>
          <a:solidFill>
            <a:srgbClr val="F28C28"/>
          </a:solidFill>
          <a:ln/>
        </p:spPr>
        <p:txBody>
          <a:bodyPr/>
          <a:lstStyle/>
          <a:p>
            <a:endParaRPr lang="zh-CN" altLang="en-US"/>
          </a:p>
        </p:txBody>
      </p:sp>
      <p:sp>
        <p:nvSpPr>
          <p:cNvPr id="29" name="Text 27"/>
          <p:cNvSpPr txBox="1"/>
          <p:nvPr/>
        </p:nvSpPr>
        <p:spPr>
          <a:xfrm>
            <a:off x="64008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Simplify</a:t>
            </a:r>
            <a:endParaRPr lang="en-US" sz="2200" dirty="0"/>
          </a:p>
        </p:txBody>
      </p:sp>
      <p:sp>
        <p:nvSpPr>
          <p:cNvPr id="30" name="Shape 28"/>
          <p:cNvSpPr/>
          <p:nvPr/>
        </p:nvSpPr>
        <p:spPr>
          <a:xfrm>
            <a:off x="3474720" y="5303520"/>
            <a:ext cx="2560320" cy="822960"/>
          </a:xfrm>
          <a:prstGeom prst="roundRect">
            <a:avLst>
              <a:gd name="adj" fmla="val 13333"/>
            </a:avLst>
          </a:prstGeom>
          <a:solidFill>
            <a:srgbClr val="1FA37A"/>
          </a:solidFill>
          <a:ln/>
        </p:spPr>
        <p:txBody>
          <a:bodyPr/>
          <a:lstStyle/>
          <a:p>
            <a:endParaRPr lang="zh-CN" altLang="en-US"/>
          </a:p>
        </p:txBody>
      </p:sp>
      <p:sp>
        <p:nvSpPr>
          <p:cNvPr id="31" name="Text 29"/>
          <p:cNvSpPr txBox="1"/>
          <p:nvPr/>
        </p:nvSpPr>
        <p:spPr>
          <a:xfrm>
            <a:off x="347472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Draw it</a:t>
            </a:r>
            <a:endParaRPr lang="en-US" sz="2200" dirty="0"/>
          </a:p>
        </p:txBody>
      </p:sp>
      <p:sp>
        <p:nvSpPr>
          <p:cNvPr id="32" name="Shape 30"/>
          <p:cNvSpPr/>
          <p:nvPr/>
        </p:nvSpPr>
        <p:spPr>
          <a:xfrm>
            <a:off x="6309360" y="5303520"/>
            <a:ext cx="2560320" cy="822960"/>
          </a:xfrm>
          <a:prstGeom prst="roundRect">
            <a:avLst>
              <a:gd name="adj" fmla="val 13333"/>
            </a:avLst>
          </a:prstGeom>
          <a:solidFill>
            <a:srgbClr val="1B3A8C"/>
          </a:solidFill>
          <a:ln/>
        </p:spPr>
        <p:txBody>
          <a:bodyPr/>
          <a:lstStyle/>
          <a:p>
            <a:endParaRPr lang="zh-CN" altLang="en-US"/>
          </a:p>
        </p:txBody>
      </p:sp>
      <p:sp>
        <p:nvSpPr>
          <p:cNvPr id="33" name="Text 31"/>
          <p:cNvSpPr txBox="1"/>
          <p:nvPr/>
        </p:nvSpPr>
        <p:spPr>
          <a:xfrm>
            <a:off x="630936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Find the rule</a:t>
            </a:r>
            <a:endParaRPr lang="en-US" sz="2200" dirty="0"/>
          </a:p>
        </p:txBody>
      </p:sp>
      <p:sp>
        <p:nvSpPr>
          <p:cNvPr id="34" name="Shape 32"/>
          <p:cNvSpPr/>
          <p:nvPr/>
        </p:nvSpPr>
        <p:spPr>
          <a:xfrm>
            <a:off x="9144000" y="5303520"/>
            <a:ext cx="2560320" cy="822960"/>
          </a:xfrm>
          <a:prstGeom prst="roundRect">
            <a:avLst>
              <a:gd name="adj" fmla="val 13333"/>
            </a:avLst>
          </a:prstGeom>
          <a:solidFill>
            <a:srgbClr val="F28C28"/>
          </a:solidFill>
          <a:ln/>
        </p:spPr>
        <p:txBody>
          <a:bodyPr/>
          <a:lstStyle/>
          <a:p>
            <a:endParaRPr lang="zh-CN" altLang="en-US"/>
          </a:p>
        </p:txBody>
      </p:sp>
      <p:sp>
        <p:nvSpPr>
          <p:cNvPr id="35" name="Text 33"/>
          <p:cNvSpPr txBox="1"/>
          <p:nvPr/>
        </p:nvSpPr>
        <p:spPr>
          <a:xfrm>
            <a:off x="914400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Test it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Why we put them together</a:t>
            </a:r>
            <a:endParaRPr lang="en-US" sz="4400" dirty="0"/>
          </a:p>
        </p:txBody>
      </p:sp>
      <p:sp>
        <p:nvSpPr>
          <p:cNvPr id="3" name="Shape 1"/>
          <p:cNvSpPr/>
          <p:nvPr/>
        </p:nvSpPr>
        <p:spPr>
          <a:xfrm>
            <a:off x="640080" y="1554480"/>
            <a:ext cx="3383280" cy="2560320"/>
          </a:xfrm>
          <a:prstGeom prst="roundRect">
            <a:avLst>
              <a:gd name="adj" fmla="val 5357"/>
            </a:avLst>
          </a:prstGeom>
          <a:solidFill>
            <a:srgbClr val="1B3A8C"/>
          </a:solidFill>
          <a:ln/>
        </p:spPr>
        <p:txBody>
          <a:bodyPr/>
          <a:lstStyle/>
          <a:p>
            <a:endParaRPr lang="zh-CN" altLang="en-US"/>
          </a:p>
        </p:txBody>
      </p:sp>
      <p:sp>
        <p:nvSpPr>
          <p:cNvPr id="4" name="Text 2"/>
          <p:cNvSpPr txBox="1"/>
          <p:nvPr/>
        </p:nvSpPr>
        <p:spPr>
          <a:xfrm>
            <a:off x="96012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Math Support</a:t>
            </a:r>
            <a:endParaRPr lang="en-US" sz="3200" dirty="0"/>
          </a:p>
        </p:txBody>
      </p:sp>
      <p:sp>
        <p:nvSpPr>
          <p:cNvPr id="5" name="Text 3"/>
          <p:cNvSpPr txBox="1"/>
          <p:nvPr/>
        </p:nvSpPr>
        <p:spPr>
          <a:xfrm>
            <a:off x="96012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keeps your child up at school</a:t>
            </a:r>
            <a:endParaRPr lang="en-US" sz="2200" dirty="0"/>
          </a:p>
        </p:txBody>
      </p:sp>
      <p:sp>
        <p:nvSpPr>
          <p:cNvPr id="6" name="Shape 4"/>
          <p:cNvSpPr/>
          <p:nvPr/>
        </p:nvSpPr>
        <p:spPr>
          <a:xfrm>
            <a:off x="4480560" y="1554480"/>
            <a:ext cx="3383280" cy="2560320"/>
          </a:xfrm>
          <a:prstGeom prst="roundRect">
            <a:avLst>
              <a:gd name="adj" fmla="val 5357"/>
            </a:avLst>
          </a:prstGeom>
          <a:solidFill>
            <a:srgbClr val="1FA37A"/>
          </a:solidFill>
          <a:ln/>
        </p:spPr>
        <p:txBody>
          <a:bodyPr/>
          <a:lstStyle/>
          <a:p>
            <a:endParaRPr lang="zh-CN" altLang="en-US"/>
          </a:p>
        </p:txBody>
      </p:sp>
      <p:sp>
        <p:nvSpPr>
          <p:cNvPr id="7" name="Text 5"/>
          <p:cNvSpPr txBox="1"/>
          <p:nvPr/>
        </p:nvSpPr>
        <p:spPr>
          <a:xfrm>
            <a:off x="480060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Logic Training</a:t>
            </a:r>
            <a:endParaRPr lang="en-US" sz="3200" dirty="0"/>
          </a:p>
        </p:txBody>
      </p:sp>
      <p:sp>
        <p:nvSpPr>
          <p:cNvPr id="8" name="Text 6"/>
          <p:cNvSpPr txBox="1"/>
          <p:nvPr/>
        </p:nvSpPr>
        <p:spPr>
          <a:xfrm>
            <a:off x="480060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prepares for new problems</a:t>
            </a:r>
            <a:endParaRPr lang="en-US" sz="2200" dirty="0"/>
          </a:p>
        </p:txBody>
      </p:sp>
      <p:sp>
        <p:nvSpPr>
          <p:cNvPr id="9" name="Shape 7"/>
          <p:cNvSpPr/>
          <p:nvPr/>
        </p:nvSpPr>
        <p:spPr>
          <a:xfrm>
            <a:off x="8321040" y="1554480"/>
            <a:ext cx="3383280" cy="2560320"/>
          </a:xfrm>
          <a:prstGeom prst="roundRect">
            <a:avLst>
              <a:gd name="adj" fmla="val 5357"/>
            </a:avLst>
          </a:prstGeom>
          <a:solidFill>
            <a:srgbClr val="F28C28"/>
          </a:solidFill>
          <a:ln/>
        </p:spPr>
        <p:txBody>
          <a:bodyPr/>
          <a:lstStyle/>
          <a:p>
            <a:endParaRPr lang="zh-CN" altLang="en-US"/>
          </a:p>
        </p:txBody>
      </p:sp>
      <p:sp>
        <p:nvSpPr>
          <p:cNvPr id="10" name="Text 8"/>
          <p:cNvSpPr txBox="1"/>
          <p:nvPr/>
        </p:nvSpPr>
        <p:spPr>
          <a:xfrm>
            <a:off x="864108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English</a:t>
            </a:r>
            <a:endParaRPr lang="en-US" sz="3200" dirty="0"/>
          </a:p>
        </p:txBody>
      </p:sp>
      <p:sp>
        <p:nvSpPr>
          <p:cNvPr id="11" name="Text 9"/>
          <p:cNvSpPr txBox="1"/>
          <p:nvPr/>
        </p:nvSpPr>
        <p:spPr>
          <a:xfrm>
            <a:off x="864108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language of reasoning</a:t>
            </a:r>
            <a:endParaRPr lang="en-US" sz="2200" dirty="0"/>
          </a:p>
        </p:txBody>
      </p:sp>
      <p:sp>
        <p:nvSpPr>
          <p:cNvPr id="12" name="Shape 10"/>
          <p:cNvSpPr/>
          <p:nvPr/>
        </p:nvSpPr>
        <p:spPr>
          <a:xfrm>
            <a:off x="640080" y="4434840"/>
            <a:ext cx="11064240" cy="1554480"/>
          </a:xfrm>
          <a:prstGeom prst="roundRect">
            <a:avLst>
              <a:gd name="adj" fmla="val 8824"/>
            </a:avLst>
          </a:prstGeom>
          <a:solidFill>
            <a:srgbClr val="EAF1FB"/>
          </a:solidFill>
          <a:ln/>
        </p:spPr>
        <p:txBody>
          <a:bodyPr/>
          <a:lstStyle/>
          <a:p>
            <a:endParaRPr lang="zh-CN" altLang="en-US"/>
          </a:p>
        </p:txBody>
      </p:sp>
      <p:sp>
        <p:nvSpPr>
          <p:cNvPr id="13" name="Text 11"/>
          <p:cNvSpPr txBox="1"/>
          <p:nvPr/>
        </p:nvSpPr>
        <p:spPr>
          <a:xfrm>
            <a:off x="640080" y="4434840"/>
            <a:ext cx="11064240" cy="1554480"/>
          </a:xfrm>
          <a:prstGeom prst="rect">
            <a:avLst/>
          </a:prstGeom>
          <a:noFill/>
          <a:ln/>
        </p:spPr>
        <p:txBody>
          <a:bodyPr wrap="square" lIns="0" tIns="0" rIns="0" bIns="0" rtlCol="0" anchor="ctr"/>
          <a:lstStyle/>
          <a:p>
            <a:pPr marL="0" indent="0" algn="ctr">
              <a:buNone/>
            </a:pPr>
            <a:r>
              <a:rPr lang="en-US" sz="3400" b="1" dirty="0">
                <a:solidFill>
                  <a:srgbClr val="1B3A8C"/>
                </a:solidFill>
                <a:latin typeface="Calibri" pitchFamily="34" charset="0"/>
                <a:ea typeface="Calibri" pitchFamily="34" charset="-122"/>
                <a:cs typeface="Calibri" pitchFamily="34" charset="-120"/>
              </a:rPr>
              <a:t>Same week. Same idea.</a:t>
            </a:r>
            <a:endParaRPr lang="en-US" sz="3400" dirty="0"/>
          </a:p>
          <a:p>
            <a:pPr marL="0" indent="0" algn="ctr">
              <a:buNone/>
            </a:pPr>
            <a:r>
              <a:rPr lang="en-US" sz="3400" b="1" dirty="0">
                <a:solidFill>
                  <a:srgbClr val="1B3A8C"/>
                </a:solidFill>
                <a:latin typeface="Calibri" pitchFamily="34" charset="0"/>
                <a:ea typeface="Calibri" pitchFamily="34" charset="-122"/>
                <a:cs typeface="Calibri" pitchFamily="34" charset="-120"/>
              </a:rPr>
              <a:t>First support it, then stretch it.</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Come and try a lesson</a:t>
            </a:r>
            <a:endParaRPr lang="en-US" sz="4800" dirty="0"/>
          </a:p>
        </p:txBody>
      </p:sp>
      <p:sp>
        <p:nvSpPr>
          <p:cNvPr id="3" name="Text 1"/>
          <p:cNvSpPr txBox="1"/>
          <p:nvPr/>
        </p:nvSpPr>
        <p:spPr>
          <a:xfrm>
            <a:off x="822960" y="2286000"/>
            <a:ext cx="10515600" cy="914400"/>
          </a:xfrm>
          <a:prstGeom prst="rect">
            <a:avLst/>
          </a:prstGeom>
          <a:noFill/>
          <a:ln/>
        </p:spPr>
        <p:txBody>
          <a:bodyPr wrap="square" lIns="0" tIns="0" rIns="0" bIns="0" rtlCol="0" anchor="ctr"/>
          <a:lstStyle/>
          <a:p>
            <a:pPr marL="0" indent="0">
              <a:buNone/>
            </a:pPr>
            <a:r>
              <a:rPr lang="en-US" sz="5800" b="1" dirty="0">
                <a:solidFill>
                  <a:srgbClr val="F28C28"/>
                </a:solidFill>
                <a:latin typeface="Calibri" pitchFamily="34" charset="0"/>
                <a:ea typeface="Calibri" pitchFamily="34" charset="-122"/>
                <a:cs typeface="Calibri" pitchFamily="34" charset="-120"/>
              </a:rPr>
              <a:t>06 60 65 69 93</a:t>
            </a:r>
            <a:endParaRPr lang="en-US" sz="5800" dirty="0"/>
          </a:p>
        </p:txBody>
      </p:sp>
      <p:sp>
        <p:nvSpPr>
          <p:cNvPr id="4" name="Text 2"/>
          <p:cNvSpPr txBox="1"/>
          <p:nvPr/>
        </p:nvSpPr>
        <p:spPr>
          <a:xfrm>
            <a:off x="822960" y="3657600"/>
            <a:ext cx="10515600" cy="36576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Where the classes take place</a:t>
            </a:r>
            <a:endParaRPr lang="en-US" sz="1800" dirty="0"/>
          </a:p>
        </p:txBody>
      </p:sp>
      <p:sp>
        <p:nvSpPr>
          <p:cNvPr id="5" name="Text 3"/>
          <p:cNvSpPr txBox="1"/>
          <p:nvPr/>
        </p:nvSpPr>
        <p:spPr>
          <a:xfrm>
            <a:off x="822960" y="4069080"/>
            <a:ext cx="105156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Morning</a:t>
            </a:r>
            <a:endParaRPr lang="en-US" sz="3400" dirty="0"/>
          </a:p>
        </p:txBody>
      </p:sp>
      <p:sp>
        <p:nvSpPr>
          <p:cNvPr id="6" name="Text 4"/>
          <p:cNvSpPr txBox="1"/>
          <p:nvPr/>
        </p:nvSpPr>
        <p:spPr>
          <a:xfrm>
            <a:off x="822960" y="4754880"/>
            <a:ext cx="10515600" cy="457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179 Av. Charles-de-Gaulle, 92200 Neuilly-sur-Seine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769</Words>
  <Application>Microsoft Macintosh PowerPoint</Application>
  <PresentationFormat>宽屏</PresentationFormat>
  <Paragraphs>98</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Master Su</cp:lastModifiedBy>
  <cp:revision>3</cp:revision>
  <dcterms:created xsi:type="dcterms:W3CDTF">2026-10-01T14:36:18Z</dcterms:created>
  <dcterms:modified xsi:type="dcterms:W3CDTF">2026-10-01T15:05:31Z</dcterms:modified>
</cp:coreProperties>
</file>