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0"/>
  </p:notesMasterIdLst>
  <p:sldIdLst>
    <p:sldId id="256" r:id="rId2"/>
    <p:sldId id="257" r:id="rId3"/>
    <p:sldId id="258" r:id="rId4"/>
    <p:sldId id="264" r:id="rId15"/>
    <p:sldId id="259" r:id="rId5"/>
    <p:sldId id="265" r:id="rId16"/>
    <p:sldId id="260" r:id="rId7"/>
    <p:sldId id="263" r:id="rId6"/>
    <p:sldId id="261" r:id="rId8"/>
    <p:sldId id="262" r:id="rId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27" d="100"/>
          <a:sy n="127" d="100"/>
        </p:scale>
        <p:origin x="536"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5.xml"/><Relationship Id="rId6" Type="http://schemas.openxmlformats.org/officeDocument/2006/relationships/slide" Target="slides/slide8.xml"/><Relationship Id="rId7" Type="http://schemas.openxmlformats.org/officeDocument/2006/relationships/slide" Target="slides/slide7.xml"/><Relationship Id="rId8" Type="http://schemas.openxmlformats.org/officeDocument/2006/relationships/slide" Target="slides/slide9.xml"/><Relationship Id="rId9" Type="http://schemas.openxmlformats.org/officeDocument/2006/relationships/slide" Target="slides/slide10.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 Id="rId15" Type="http://schemas.openxmlformats.org/officeDocument/2006/relationships/slide" Target="slides/slide4.xml"/><Relationship Id="rId16"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53673778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lesson does two things at the same time: Math Support and Logic Training, all in English.</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Math Support keeps your child up to speed at school. Logic Training prepares them for problems they have never seen. And everything happens in English.</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 school in France, children follow the national programme: numbers and calculation, measurement, geometry and problem solving. French maths is not Singapore Math. But since 2018 it has been moving in the same direction: touch it, say it, then make it abstract. That is also how Singapore Math works, so the two fit together very well.</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Here is Math Support in action, with one problem. Tom has twelve sweets and gives one third of them to Anna. How many are left? First, touch it: put out twelve counters and make three equal groups of four. One group is one third, so Anna gets four. Second, draw it: one bar for twelve, cut into three equal parts, and each part is four. Third, write it: one third of twelve is twelve divided by three, which is four, and twelve minus four leaves eight. By the time the child writes the numbers, they have already seen the answer. We follow the same topics as school, from CE1 to CM1, with Singapore Math books, and the child learns the English words along the way.</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There are two ways to learn this. One is to memorise: three folds, seven creases. But if I ask about four folds, the child is stuck, because the answer was remembered, not understood. The other way is a method. Try small cases, draw them, and look for the rule: the parts double each time, and the creases are the parts minus one. So four folds give fifteen creases, five folds give thirty-one, and the child can answer any number. Memorising answers one question. A method answers the next one too.</a:t>
            </a:r>
          </a:p>
        </p:txBody>
      </p:sp>
      <p:sp>
        <p:nvSpPr>
          <p:cNvPr id="4" name="Slide Number Placeholder 3"/>
          <p:cNvSpPr>
            <a:spLocks noGrp="1"/>
          </p:cNvSpPr>
          <p:nvPr>
            <p:ph type="sldNum" sz="quarter" idx="10"/>
          </p:nvPr>
        </p:nvSpPr>
        <p:spPr/>
        <p:txBody>
          <a:bodyPr/>
          <a:lstStyle/>
          <a:p>
            <a:r>
              <a:t>6</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Logic Training uses the same topic but asks a question the child has never seen. Fold a paper strip in half three times, then open it. How many creases do you see? There is no formula. The child tries small cases, draws them and finds the rule. One fold, one crease. Two folds, three creases. Three folds, seven. It is the same fractions, but now the child has to think, not just apply.</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Math Support makes sure your child keeps up at school. Logic Training makes sure your child can handle new problems. English is the language they use to explain it, so the child does not just learn maths in English: they think in English. Same week, same idea. First support it, then stretch it.</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method we follow is Singapore Math. It rests on three ideas. First, concrete, pictorial, abstract: the child touches the idea, draws it, then writes it. Second, the bar model: the child draws the problem before solving it. Third, saying it in words: the child explains the reasoning out loud, in English. And we use the same method in both Math Support and Logic Training.</a:t>
            </a:r>
          </a:p>
        </p:txBody>
      </p:sp>
      <p:sp>
        <p:nvSpPr>
          <p:cNvPr id="4" name="Slide Number Placeholder 3"/>
          <p:cNvSpPr>
            <a:spLocks noGrp="1"/>
          </p:cNvSpPr>
          <p:nvPr>
            <p:ph type="sldNum" sz="quarter" idx="10"/>
          </p:nvPr>
        </p:nvSpPr>
        <p:spPr/>
        <p:txBody>
          <a:bodyPr/>
          <a:lstStyle/>
          <a:p>
            <a:r>
              <a:t>6</a:t>
            </a:r>
          </a:p>
        </p:txBody>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Now let me show you the difference between memorising and a method, with the same problem. A child who memorises copies the steps: see the word gives, so subtract; write twelve minus a third of twelve; calculate twelve minus four, which is eight. The answer is right, but the child only copied the steps. A child with a method sees the problem. They write the numbers one to twelve, make three equal groups of four, and one group goes to Anna. Tom keeps the other eight. Now change the question: one third goes to Anna and one quarter goes to Ben. The child who copied the steps is lost. The child who understands still sees it: four for Anna, three for Ben, and five left.</a:t>
            </a:r>
          </a:p>
        </p:txBody>
      </p:sp>
      <p:sp>
        <p:nvSpPr>
          <p:cNvPr id="4" name="Slide Number Placeholder 3"/>
          <p:cNvSpPr>
            <a:spLocks noGrp="1"/>
          </p:cNvSpPr>
          <p:nvPr>
            <p:ph type="sldNum" sz="quarter" idx="10"/>
          </p:nvPr>
        </p:nvSpPr>
        <p:spPr/>
        <p:txBody>
          <a:bodyPr/>
          <a:lstStyle/>
          <a:p>
            <a:r>
              <a:t>6</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3A8C"/>
        </a:solidFill>
        <a:effectLst/>
      </p:bgPr>
    </p:bg>
    <p:spTree>
      <p:nvGrpSpPr>
        <p:cNvPr id="1" name=""/>
        <p:cNvGrpSpPr/>
        <p:nvPr/>
      </p:nvGrpSpPr>
      <p:grpSpPr>
        <a:xfrm>
          <a:off x="0" y="0"/>
          <a:ext cx="0" cy="0"/>
          <a:chOff x="0" y="0"/>
          <a:chExt cx="0" cy="0"/>
        </a:xfrm>
      </p:grpSpPr>
      <p:sp>
        <p:nvSpPr>
          <p:cNvPr id="2" name="Text 0"/>
          <p:cNvSpPr txBox="1"/>
          <p:nvPr/>
        </p:nvSpPr>
        <p:spPr>
          <a:xfrm>
            <a:off x="822960" y="1097280"/>
            <a:ext cx="10058400" cy="457200"/>
          </a:xfrm>
          <a:prstGeom prst="rect">
            <a:avLst/>
          </a:prstGeom>
          <a:noFill/>
          <a:ln/>
        </p:spPr>
        <p:txBody>
          <a:bodyPr wrap="square" lIns="0" tIns="0" rIns="0" bIns="0" rtlCol="0" anchor="t"/>
          <a:lstStyle/>
          <a:p>
            <a:pPr marL="0" indent="0">
              <a:buNone/>
            </a:pPr>
            <a:r>
              <a:rPr lang="en-US" sz="2000" b="1" kern="0" spc="400" dirty="0">
                <a:solidFill>
                  <a:srgbClr val="F28C28"/>
                </a:solidFill>
                <a:latin typeface="Calibri" pitchFamily="34" charset="0"/>
                <a:ea typeface="Calibri" pitchFamily="34" charset="-122"/>
                <a:cs typeface="Calibri" pitchFamily="34" charset="-120"/>
              </a:rPr>
              <a:t>MATHS IN ENGLISH · NEUILLY-SUR-SEINE</a:t>
            </a:r>
            <a:endParaRPr lang="en-US" sz="2000" dirty="0"/>
          </a:p>
        </p:txBody>
      </p:sp>
      <p:sp>
        <p:nvSpPr>
          <p:cNvPr id="3" name="Text 1"/>
          <p:cNvSpPr txBox="1"/>
          <p:nvPr/>
        </p:nvSpPr>
        <p:spPr>
          <a:xfrm>
            <a:off x="822960" y="1645920"/>
            <a:ext cx="10515600" cy="1097280"/>
          </a:xfrm>
          <a:prstGeom prst="rect">
            <a:avLst/>
          </a:prstGeom>
          <a:noFill/>
          <a:ln/>
        </p:spPr>
        <p:txBody>
          <a:bodyPr wrap="square" lIns="0" tIns="0" rIns="0" bIns="0" rtlCol="0" anchor="ctr"/>
          <a:lstStyle/>
          <a:p>
            <a:pPr marL="0" indent="0">
              <a:buNone/>
            </a:pPr>
            <a:r>
              <a:rPr lang="en-US" sz="6400" b="1" dirty="0">
                <a:solidFill>
                  <a:srgbClr val="FFFFFF"/>
                </a:solidFill>
                <a:latin typeface="Calibri" pitchFamily="34" charset="0"/>
                <a:ea typeface="Calibri" pitchFamily="34" charset="-122"/>
                <a:cs typeface="Calibri" pitchFamily="34" charset="-120"/>
              </a:rPr>
              <a:t>How it works</a:t>
            </a:r>
            <a:endParaRPr lang="en-US" sz="6400" dirty="0"/>
          </a:p>
        </p:txBody>
      </p:sp>
      <p:sp>
        <p:nvSpPr>
          <p:cNvPr id="4" name="Text 2"/>
          <p:cNvSpPr txBox="1"/>
          <p:nvPr/>
        </p:nvSpPr>
        <p:spPr>
          <a:xfrm>
            <a:off x="822960" y="2926080"/>
            <a:ext cx="10515600" cy="822960"/>
          </a:xfrm>
          <a:prstGeom prst="rect">
            <a:avLst/>
          </a:prstGeom>
          <a:noFill/>
          <a:ln/>
        </p:spPr>
        <p:txBody>
          <a:bodyPr wrap="square" lIns="0" tIns="0" rIns="0" bIns="0" rtlCol="0" anchor="ctr"/>
          <a:lstStyle/>
          <a:p>
            <a:pPr marL="0" indent="0">
              <a:buNone/>
            </a:pPr>
            <a:r>
              <a:rPr lang="en-US" sz="4000" dirty="0">
                <a:solidFill>
                  <a:srgbClr val="FFFFFF"/>
                </a:solidFill>
                <a:latin typeface="Calibri" pitchFamily="34" charset="0"/>
                <a:ea typeface="Calibri" pitchFamily="34" charset="-122"/>
                <a:cs typeface="Calibri" pitchFamily="34" charset="-120"/>
              </a:rPr>
              <a:t>Math Support + Logic Training</a:t>
            </a:r>
            <a:endParaRPr lang="en-US" sz="4000" dirty="0"/>
          </a:p>
        </p:txBody>
      </p:sp>
      <p:sp>
        <p:nvSpPr>
          <p:cNvPr id="5" name="Text 3"/>
          <p:cNvSpPr txBox="1"/>
          <p:nvPr/>
        </p:nvSpPr>
        <p:spPr>
          <a:xfrm>
            <a:off x="822960" y="3931920"/>
            <a:ext cx="10515600" cy="548640"/>
          </a:xfrm>
          <a:prstGeom prst="rect">
            <a:avLst/>
          </a:prstGeom>
          <a:noFill/>
          <a:ln/>
        </p:spPr>
        <p:txBody>
          <a:bodyPr wrap="square" lIns="0" tIns="0" rIns="0" bIns="0" rtlCol="0" anchor="t"/>
          <a:lstStyle/>
          <a:p>
            <a:pPr marL="0" indent="0">
              <a:buNone/>
            </a:pPr>
            <a:r>
              <a:rPr lang="en-US" sz="2400" dirty="0">
                <a:solidFill>
                  <a:srgbClr val="CADCFC"/>
                </a:solidFill>
                <a:latin typeface="Calibri" pitchFamily="34" charset="0"/>
                <a:ea typeface="Calibri" pitchFamily="34" charset="-122"/>
                <a:cs typeface="Calibri" pitchFamily="34" charset="-120"/>
              </a:rPr>
              <a:t>One programme · One language</a:t>
            </a:r>
            <a:endParaRPr lang="en-US" sz="2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40080" y="457200"/>
            <a:ext cx="10881360" cy="822960"/>
          </a:xfrm>
          <a:prstGeom prst="rect">
            <a:avLst/>
          </a:prstGeom>
          <a:noFill/>
          <a:ln/>
        </p:spPr>
        <p:txBody>
          <a:bodyPr wrap="square" lIns="0" tIns="0" rIns="0" bIns="0" rtlCol="0" anchor="ctr"/>
          <a:lstStyle/>
          <a:p>
            <a:pPr marL="0" indent="0">
              <a:buNone/>
            </a:pPr>
            <a:r>
              <a:rPr lang="en-US" sz="4400" b="1" dirty="0">
                <a:solidFill>
                  <a:srgbClr val="1B3A8C"/>
                </a:solidFill>
                <a:latin typeface="Calibri" pitchFamily="34" charset="0"/>
                <a:ea typeface="Calibri" pitchFamily="34" charset="-122"/>
                <a:cs typeface="Calibri" pitchFamily="34" charset="-120"/>
              </a:rPr>
              <a:t>Two things, at the same time</a:t>
            </a:r>
            <a:endParaRPr lang="en-US" sz="4400" dirty="0"/>
          </a:p>
        </p:txBody>
      </p:sp>
      <p:sp>
        <p:nvSpPr>
          <p:cNvPr id="3" name="Shape 1"/>
          <p:cNvSpPr/>
          <p:nvPr/>
        </p:nvSpPr>
        <p:spPr>
          <a:xfrm>
            <a:off x="640080" y="1554480"/>
            <a:ext cx="5212080" cy="3017520"/>
          </a:xfrm>
          <a:prstGeom prst="roundRect">
            <a:avLst>
              <a:gd name="adj" fmla="val 4545"/>
            </a:avLst>
          </a:prstGeom>
          <a:solidFill>
            <a:srgbClr val="EAF1FB"/>
          </a:solidFill>
          <a:ln/>
        </p:spPr>
        <p:txBody>
          <a:bodyPr/>
          <a:lstStyle/>
          <a:p>
            <a:endParaRPr lang="zh-CN" altLang="en-US"/>
          </a:p>
        </p:txBody>
      </p:sp>
      <p:sp>
        <p:nvSpPr>
          <p:cNvPr id="4" name="Text 2"/>
          <p:cNvSpPr txBox="1"/>
          <p:nvPr/>
        </p:nvSpPr>
        <p:spPr>
          <a:xfrm>
            <a:off x="1005840" y="1828800"/>
            <a:ext cx="4480560" cy="822960"/>
          </a:xfrm>
          <a:prstGeom prst="rect">
            <a:avLst/>
          </a:prstGeom>
          <a:noFill/>
          <a:ln/>
        </p:spPr>
        <p:txBody>
          <a:bodyPr wrap="square" lIns="0" tIns="0" rIns="0" bIns="0" rtlCol="0" anchor="ctr"/>
          <a:lstStyle/>
          <a:p>
            <a:pPr marL="0" indent="0">
              <a:buNone/>
            </a:pPr>
            <a:r>
              <a:rPr lang="en-US" sz="3800" b="1" dirty="0">
                <a:solidFill>
                  <a:srgbClr val="1B3A8C"/>
                </a:solidFill>
                <a:latin typeface="Calibri" pitchFamily="34" charset="0"/>
                <a:ea typeface="Calibri" pitchFamily="34" charset="-122"/>
                <a:cs typeface="Calibri" pitchFamily="34" charset="-120"/>
              </a:rPr>
              <a:t>Math Support</a:t>
            </a:r>
            <a:endParaRPr lang="en-US" sz="3800" dirty="0"/>
          </a:p>
        </p:txBody>
      </p:sp>
      <p:sp>
        <p:nvSpPr>
          <p:cNvPr id="5" name="Text 3"/>
          <p:cNvSpPr txBox="1"/>
          <p:nvPr/>
        </p:nvSpPr>
        <p:spPr>
          <a:xfrm>
            <a:off x="1005840" y="2743200"/>
            <a:ext cx="4480560" cy="640080"/>
          </a:xfrm>
          <a:prstGeom prst="rect">
            <a:avLst/>
          </a:prstGeom>
          <a:noFill/>
          <a:ln/>
        </p:spPr>
        <p:txBody>
          <a:bodyPr wrap="square" lIns="0" tIns="0" rIns="0" bIns="0" rtlCol="0" anchor="t"/>
          <a:lstStyle/>
          <a:p>
            <a:pPr marL="0" indent="0">
              <a:buNone/>
            </a:pPr>
            <a:r>
              <a:rPr lang="en-US" sz="2800" b="1" dirty="0">
                <a:solidFill>
                  <a:srgbClr val="1F2937"/>
                </a:solidFill>
                <a:latin typeface="Calibri" pitchFamily="34" charset="0"/>
                <a:ea typeface="Calibri" pitchFamily="34" charset="-122"/>
                <a:cs typeface="Calibri" pitchFamily="34" charset="-120"/>
              </a:rPr>
              <a:t>Keep up at school</a:t>
            </a:r>
            <a:endParaRPr lang="en-US" sz="2800" dirty="0"/>
          </a:p>
        </p:txBody>
      </p:sp>
      <p:sp>
        <p:nvSpPr>
          <p:cNvPr id="6" name="Text 4"/>
          <p:cNvSpPr txBox="1"/>
          <p:nvPr/>
        </p:nvSpPr>
        <p:spPr>
          <a:xfrm>
            <a:off x="1005840" y="3474720"/>
            <a:ext cx="4480560" cy="822960"/>
          </a:xfrm>
          <a:prstGeom prst="rect">
            <a:avLst/>
          </a:prstGeom>
          <a:noFill/>
          <a:ln/>
        </p:spPr>
        <p:txBody>
          <a:bodyPr wrap="square" lIns="0" tIns="0" rIns="0" bIns="0" rtlCol="0" anchor="t"/>
          <a:lstStyle/>
          <a:p>
            <a:pPr marL="0" indent="0">
              <a:buNone/>
            </a:pPr>
            <a:r>
              <a:rPr lang="en-US" sz="2000" dirty="0">
                <a:solidFill>
                  <a:srgbClr val="5B6472"/>
                </a:solidFill>
                <a:latin typeface="Calibri" pitchFamily="34" charset="0"/>
                <a:ea typeface="Calibri" pitchFamily="34" charset="-122"/>
                <a:cs typeface="Calibri" pitchFamily="34" charset="-120"/>
              </a:rPr>
              <a:t>Same topics as the French programme</a:t>
            </a:r>
            <a:endParaRPr lang="en-US" sz="2000" dirty="0"/>
          </a:p>
        </p:txBody>
      </p:sp>
      <p:sp>
        <p:nvSpPr>
          <p:cNvPr id="7" name="Shape 5"/>
          <p:cNvSpPr/>
          <p:nvPr/>
        </p:nvSpPr>
        <p:spPr>
          <a:xfrm>
            <a:off x="6492240" y="1554480"/>
            <a:ext cx="5212080" cy="3017520"/>
          </a:xfrm>
          <a:prstGeom prst="roundRect">
            <a:avLst>
              <a:gd name="adj" fmla="val 4545"/>
            </a:avLst>
          </a:prstGeom>
          <a:solidFill>
            <a:srgbClr val="EAF1FB"/>
          </a:solidFill>
          <a:ln/>
        </p:spPr>
        <p:txBody>
          <a:bodyPr/>
          <a:lstStyle/>
          <a:p>
            <a:endParaRPr lang="zh-CN" altLang="en-US"/>
          </a:p>
        </p:txBody>
      </p:sp>
      <p:sp>
        <p:nvSpPr>
          <p:cNvPr id="8" name="Text 6"/>
          <p:cNvSpPr txBox="1"/>
          <p:nvPr/>
        </p:nvSpPr>
        <p:spPr>
          <a:xfrm>
            <a:off x="6858000" y="1828800"/>
            <a:ext cx="4480560" cy="822960"/>
          </a:xfrm>
          <a:prstGeom prst="rect">
            <a:avLst/>
          </a:prstGeom>
          <a:noFill/>
          <a:ln/>
        </p:spPr>
        <p:txBody>
          <a:bodyPr wrap="square" lIns="0" tIns="0" rIns="0" bIns="0" rtlCol="0" anchor="ctr"/>
          <a:lstStyle/>
          <a:p>
            <a:pPr marL="0" indent="0">
              <a:buNone/>
            </a:pPr>
            <a:r>
              <a:rPr lang="en-US" sz="3800" b="1" dirty="0">
                <a:solidFill>
                  <a:srgbClr val="1FA37A"/>
                </a:solidFill>
                <a:latin typeface="Calibri" pitchFamily="34" charset="0"/>
                <a:ea typeface="Calibri" pitchFamily="34" charset="-122"/>
                <a:cs typeface="Calibri" pitchFamily="34" charset="-120"/>
              </a:rPr>
              <a:t>Logic Training</a:t>
            </a:r>
            <a:endParaRPr lang="en-US" sz="3800" dirty="0"/>
          </a:p>
        </p:txBody>
      </p:sp>
      <p:sp>
        <p:nvSpPr>
          <p:cNvPr id="9" name="Text 7"/>
          <p:cNvSpPr txBox="1"/>
          <p:nvPr/>
        </p:nvSpPr>
        <p:spPr>
          <a:xfrm>
            <a:off x="6858000" y="2743200"/>
            <a:ext cx="4480560" cy="640080"/>
          </a:xfrm>
          <a:prstGeom prst="rect">
            <a:avLst/>
          </a:prstGeom>
          <a:noFill/>
          <a:ln/>
        </p:spPr>
        <p:txBody>
          <a:bodyPr wrap="square" lIns="0" tIns="0" rIns="0" bIns="0" rtlCol="0" anchor="t"/>
          <a:lstStyle/>
          <a:p>
            <a:pPr marL="0" indent="0">
              <a:buNone/>
            </a:pPr>
            <a:r>
              <a:rPr lang="en-US" sz="2800" b="1" dirty="0">
                <a:solidFill>
                  <a:srgbClr val="1F2937"/>
                </a:solidFill>
                <a:latin typeface="Calibri" pitchFamily="34" charset="0"/>
                <a:ea typeface="Calibri" pitchFamily="34" charset="-122"/>
                <a:cs typeface="Calibri" pitchFamily="34" charset="-120"/>
              </a:rPr>
              <a:t>Handle new problems</a:t>
            </a:r>
            <a:endParaRPr lang="en-US" sz="2800" dirty="0"/>
          </a:p>
        </p:txBody>
      </p:sp>
      <p:sp>
        <p:nvSpPr>
          <p:cNvPr id="10" name="Text 8"/>
          <p:cNvSpPr txBox="1"/>
          <p:nvPr/>
        </p:nvSpPr>
        <p:spPr>
          <a:xfrm>
            <a:off x="6858000" y="3474720"/>
            <a:ext cx="4480560" cy="822960"/>
          </a:xfrm>
          <a:prstGeom prst="rect">
            <a:avLst/>
          </a:prstGeom>
          <a:noFill/>
          <a:ln/>
        </p:spPr>
        <p:txBody>
          <a:bodyPr wrap="square" lIns="0" tIns="0" rIns="0" bIns="0" rtlCol="0" anchor="t"/>
          <a:lstStyle/>
          <a:p>
            <a:pPr marL="0" indent="0">
              <a:buNone/>
            </a:pPr>
            <a:r>
              <a:rPr lang="en-US" sz="2000" dirty="0">
                <a:solidFill>
                  <a:srgbClr val="5B6472"/>
                </a:solidFill>
                <a:latin typeface="Calibri" pitchFamily="34" charset="0"/>
                <a:ea typeface="Calibri" pitchFamily="34" charset="-122"/>
                <a:cs typeface="Calibri" pitchFamily="34" charset="-120"/>
              </a:rPr>
              <a:t>Questions your child has never seen</a:t>
            </a:r>
            <a:endParaRPr lang="en-US" sz="2000" dirty="0"/>
          </a:p>
        </p:txBody>
      </p:sp>
      <p:sp>
        <p:nvSpPr>
          <p:cNvPr id="11" name="Shape 9"/>
          <p:cNvSpPr/>
          <p:nvPr/>
        </p:nvSpPr>
        <p:spPr>
          <a:xfrm>
            <a:off x="5669280" y="2743200"/>
            <a:ext cx="822960" cy="822960"/>
          </a:xfrm>
          <a:prstGeom prst="ellipse">
            <a:avLst/>
          </a:prstGeom>
          <a:solidFill>
            <a:srgbClr val="F28C28"/>
          </a:solidFill>
          <a:ln/>
        </p:spPr>
        <p:txBody>
          <a:bodyPr/>
          <a:lstStyle/>
          <a:p>
            <a:endParaRPr lang="zh-CN" altLang="en-US"/>
          </a:p>
        </p:txBody>
      </p:sp>
      <p:sp>
        <p:nvSpPr>
          <p:cNvPr id="12" name="Text 10"/>
          <p:cNvSpPr txBox="1"/>
          <p:nvPr/>
        </p:nvSpPr>
        <p:spPr>
          <a:xfrm>
            <a:off x="5669280" y="2743200"/>
            <a:ext cx="822960" cy="822960"/>
          </a:xfrm>
          <a:prstGeom prst="rect">
            <a:avLst/>
          </a:prstGeom>
          <a:noFill/>
          <a:ln/>
        </p:spPr>
        <p:txBody>
          <a:bodyPr wrap="square" lIns="0" tIns="0" rIns="0" bIns="0" rtlCol="0" anchor="ctr"/>
          <a:lstStyle/>
          <a:p>
            <a:pPr marL="0" indent="0" algn="ctr">
              <a:buNone/>
            </a:pPr>
            <a:r>
              <a:rPr lang="en-US" sz="4400" b="1" dirty="0">
                <a:solidFill>
                  <a:srgbClr val="FFFFFF"/>
                </a:solidFill>
                <a:latin typeface="Calibri" pitchFamily="34" charset="0"/>
                <a:ea typeface="Calibri" pitchFamily="34" charset="-122"/>
                <a:cs typeface="Calibri" pitchFamily="34" charset="-120"/>
              </a:rPr>
              <a:t>+</a:t>
            </a:r>
            <a:endParaRPr lang="en-US" sz="4400" dirty="0"/>
          </a:p>
        </p:txBody>
      </p:sp>
      <p:sp>
        <p:nvSpPr>
          <p:cNvPr id="13" name="Shape 11"/>
          <p:cNvSpPr/>
          <p:nvPr/>
        </p:nvSpPr>
        <p:spPr>
          <a:xfrm>
            <a:off x="640080" y="4892040"/>
            <a:ext cx="11064240" cy="1097280"/>
          </a:xfrm>
          <a:prstGeom prst="roundRect">
            <a:avLst>
              <a:gd name="adj" fmla="val 12500"/>
            </a:avLst>
          </a:prstGeom>
          <a:solidFill>
            <a:srgbClr val="1B3A8C"/>
          </a:solidFill>
          <a:ln/>
        </p:spPr>
        <p:txBody>
          <a:bodyPr/>
          <a:lstStyle/>
          <a:p>
            <a:endParaRPr lang="zh-CN" altLang="en-US"/>
          </a:p>
        </p:txBody>
      </p:sp>
      <p:sp>
        <p:nvSpPr>
          <p:cNvPr id="14" name="Text 12"/>
          <p:cNvSpPr txBox="1"/>
          <p:nvPr/>
        </p:nvSpPr>
        <p:spPr>
          <a:xfrm>
            <a:off x="640080" y="4892040"/>
            <a:ext cx="11064240" cy="1097280"/>
          </a:xfrm>
          <a:prstGeom prst="rect">
            <a:avLst/>
          </a:prstGeom>
          <a:noFill/>
          <a:ln/>
        </p:spPr>
        <p:txBody>
          <a:bodyPr wrap="square" lIns="0" tIns="0" rIns="0" bIns="0" rtlCol="0" anchor="ctr"/>
          <a:lstStyle/>
          <a:p>
            <a:pPr marL="0" indent="0" algn="ctr">
              <a:buNone/>
            </a:pPr>
            <a:r>
              <a:rPr lang="en-US" sz="2800" b="1" dirty="0">
                <a:solidFill>
                  <a:srgbClr val="FFFFFF"/>
                </a:solidFill>
                <a:latin typeface="Calibri" pitchFamily="34" charset="0"/>
                <a:ea typeface="Calibri" pitchFamily="34" charset="-122"/>
                <a:cs typeface="Calibri" pitchFamily="34" charset="-120"/>
              </a:rPr>
              <a:t>All in English: the language of reasoning</a:t>
            </a:r>
            <a:endParaRPr lang="en-US" sz="2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EAF1FB"/>
        </a:solidFill>
        <a:effectLst/>
      </p:bgPr>
    </p:bg>
    <p:spTree>
      <p:nvGrpSpPr>
        <p:cNvPr id="1" name=""/>
        <p:cNvGrpSpPr/>
        <p:nvPr/>
      </p:nvGrpSpPr>
      <p:grpSpPr>
        <a:xfrm>
          <a:off x="0" y="0"/>
          <a:ext cx="0" cy="0"/>
          <a:chOff x="0" y="0"/>
          <a:chExt cx="0" cy="0"/>
        </a:xfrm>
      </p:grpSpPr>
      <p:sp>
        <p:nvSpPr>
          <p:cNvPr id="2" name="Text 0"/>
          <p:cNvSpPr txBox="1"/>
          <p:nvPr/>
        </p:nvSpPr>
        <p:spPr>
          <a:xfrm>
            <a:off x="640080" y="457200"/>
            <a:ext cx="10881360" cy="822960"/>
          </a:xfrm>
          <a:prstGeom prst="rect">
            <a:avLst/>
          </a:prstGeom>
          <a:noFill/>
          <a:ln/>
        </p:spPr>
        <p:txBody>
          <a:bodyPr wrap="square" lIns="0" tIns="0" rIns="0" bIns="0" rtlCol="0" anchor="ctr"/>
          <a:lstStyle/>
          <a:p>
            <a:pPr marL="0" indent="0">
              <a:buNone/>
            </a:pPr>
            <a:r>
              <a:rPr lang="en-US" sz="4400" b="1" dirty="0">
                <a:solidFill>
                  <a:srgbClr val="1B3A8C"/>
                </a:solidFill>
                <a:latin typeface="Calibri" pitchFamily="34" charset="0"/>
                <a:ea typeface="Calibri" pitchFamily="34" charset="-122"/>
                <a:cs typeface="Calibri" pitchFamily="34" charset="-120"/>
              </a:rPr>
              <a:t>What French schools teach</a:t>
            </a:r>
            <a:endParaRPr lang="en-US" sz="4400" dirty="0"/>
          </a:p>
        </p:txBody>
      </p:sp>
      <p:sp>
        <p:nvSpPr>
          <p:cNvPr id="3" name="Shape 1"/>
          <p:cNvSpPr/>
          <p:nvPr/>
        </p:nvSpPr>
        <p:spPr>
          <a:xfrm>
            <a:off x="640080" y="1554480"/>
            <a:ext cx="5303520" cy="4206240"/>
          </a:xfrm>
          <a:prstGeom prst="roundRect">
            <a:avLst>
              <a:gd name="adj" fmla="val 3261"/>
            </a:avLst>
          </a:prstGeom>
          <a:solidFill>
            <a:srgbClr val="FFFFFF"/>
          </a:solidFill>
          <a:ln/>
        </p:spPr>
        <p:txBody>
          <a:bodyPr/>
          <a:lstStyle/>
          <a:p>
            <a:endParaRPr lang="zh-CN" altLang="en-US"/>
          </a:p>
        </p:txBody>
      </p:sp>
      <p:sp>
        <p:nvSpPr>
          <p:cNvPr id="4" name="Text 2"/>
          <p:cNvSpPr txBox="1"/>
          <p:nvPr/>
        </p:nvSpPr>
        <p:spPr>
          <a:xfrm>
            <a:off x="1005840" y="1828800"/>
            <a:ext cx="4572000" cy="457200"/>
          </a:xfrm>
          <a:prstGeom prst="rect">
            <a:avLst/>
          </a:prstGeom>
          <a:noFill/>
          <a:ln/>
        </p:spPr>
        <p:txBody>
          <a:bodyPr wrap="square" lIns="0" tIns="0" rIns="0" bIns="0" rtlCol="0" anchor="t"/>
          <a:lstStyle/>
          <a:p>
            <a:pPr marL="0" indent="0">
              <a:buNone/>
            </a:pPr>
            <a:r>
              <a:rPr lang="en-US" sz="2200" b="1" dirty="0">
                <a:solidFill>
                  <a:srgbClr val="F28C28"/>
                </a:solidFill>
                <a:latin typeface="Calibri" pitchFamily="34" charset="0"/>
                <a:ea typeface="Calibri" pitchFamily="34" charset="-122"/>
                <a:cs typeface="Calibri" pitchFamily="34" charset="-120"/>
              </a:rPr>
              <a:t>The national programme</a:t>
            </a:r>
            <a:endParaRPr lang="en-US" sz="2200" dirty="0"/>
          </a:p>
        </p:txBody>
      </p:sp>
      <p:sp>
        <p:nvSpPr>
          <p:cNvPr id="5" name="Shape 3"/>
          <p:cNvSpPr/>
          <p:nvPr/>
        </p:nvSpPr>
        <p:spPr>
          <a:xfrm>
            <a:off x="1005840" y="2560320"/>
            <a:ext cx="640080" cy="640080"/>
          </a:xfrm>
          <a:prstGeom prst="ellipse">
            <a:avLst/>
          </a:prstGeom>
          <a:solidFill>
            <a:srgbClr val="1B3A8C"/>
          </a:solidFill>
          <a:ln/>
        </p:spPr>
        <p:txBody>
          <a:bodyPr/>
          <a:lstStyle/>
          <a:p>
            <a:endParaRPr lang="zh-CN" altLang="en-US"/>
          </a:p>
        </p:txBody>
      </p:sp>
      <p:sp>
        <p:nvSpPr>
          <p:cNvPr id="6" name="Text 4"/>
          <p:cNvSpPr txBox="1"/>
          <p:nvPr/>
        </p:nvSpPr>
        <p:spPr>
          <a:xfrm>
            <a:off x="1005840" y="2560320"/>
            <a:ext cx="640080" cy="640080"/>
          </a:xfrm>
          <a:prstGeom prst="rect">
            <a:avLst/>
          </a:prstGeom>
          <a:noFill/>
          <a:ln/>
        </p:spPr>
        <p:txBody>
          <a:bodyPr wrap="square" lIns="0" tIns="0" rIns="0" bIns="0" rtlCol="0" anchor="ctr"/>
          <a:lstStyle/>
          <a:p>
            <a:pPr marL="0" indent="0" algn="ctr">
              <a:buNone/>
            </a:pPr>
            <a:r>
              <a:rPr lang="en-US" sz="2400" b="1" dirty="0">
                <a:solidFill>
                  <a:srgbClr val="FFFFFF"/>
                </a:solidFill>
                <a:latin typeface="Calibri" pitchFamily="34" charset="0"/>
                <a:ea typeface="Calibri" pitchFamily="34" charset="-122"/>
                <a:cs typeface="Calibri" pitchFamily="34" charset="-120"/>
              </a:rPr>
              <a:t>1</a:t>
            </a:r>
            <a:endParaRPr lang="en-US" sz="2400" dirty="0"/>
          </a:p>
        </p:txBody>
      </p:sp>
      <p:sp>
        <p:nvSpPr>
          <p:cNvPr id="7" name="Text 5"/>
          <p:cNvSpPr txBox="1"/>
          <p:nvPr/>
        </p:nvSpPr>
        <p:spPr>
          <a:xfrm>
            <a:off x="1828800" y="2560320"/>
            <a:ext cx="3931920" cy="640080"/>
          </a:xfrm>
          <a:prstGeom prst="rect">
            <a:avLst/>
          </a:prstGeom>
          <a:noFill/>
          <a:ln/>
        </p:spPr>
        <p:txBody>
          <a:bodyPr wrap="square" lIns="0" tIns="0" rIns="0" bIns="0" rtlCol="0" anchor="ctr"/>
          <a:lstStyle/>
          <a:p>
            <a:pPr marL="0" indent="0">
              <a:buNone/>
            </a:pPr>
            <a:r>
              <a:rPr lang="en-US" sz="2400" dirty="0">
                <a:solidFill>
                  <a:srgbClr val="1F2937"/>
                </a:solidFill>
                <a:latin typeface="Calibri" pitchFamily="34" charset="0"/>
                <a:ea typeface="Calibri" pitchFamily="34" charset="-122"/>
                <a:cs typeface="Calibri" pitchFamily="34" charset="-120"/>
              </a:rPr>
              <a:t>Numbers and calculation</a:t>
            </a:r>
            <a:endParaRPr lang="en-US" sz="2400" dirty="0"/>
          </a:p>
        </p:txBody>
      </p:sp>
      <p:sp>
        <p:nvSpPr>
          <p:cNvPr id="8" name="Shape 6"/>
          <p:cNvSpPr/>
          <p:nvPr/>
        </p:nvSpPr>
        <p:spPr>
          <a:xfrm>
            <a:off x="1005840" y="3337560"/>
            <a:ext cx="640080" cy="640080"/>
          </a:xfrm>
          <a:prstGeom prst="ellipse">
            <a:avLst/>
          </a:prstGeom>
          <a:solidFill>
            <a:srgbClr val="1FA37A"/>
          </a:solidFill>
          <a:ln/>
        </p:spPr>
        <p:txBody>
          <a:bodyPr/>
          <a:lstStyle/>
          <a:p>
            <a:endParaRPr lang="zh-CN" altLang="en-US"/>
          </a:p>
        </p:txBody>
      </p:sp>
      <p:sp>
        <p:nvSpPr>
          <p:cNvPr id="9" name="Text 7"/>
          <p:cNvSpPr txBox="1"/>
          <p:nvPr/>
        </p:nvSpPr>
        <p:spPr>
          <a:xfrm>
            <a:off x="1005840" y="3337560"/>
            <a:ext cx="640080" cy="640080"/>
          </a:xfrm>
          <a:prstGeom prst="rect">
            <a:avLst/>
          </a:prstGeom>
          <a:noFill/>
          <a:ln/>
        </p:spPr>
        <p:txBody>
          <a:bodyPr wrap="square" lIns="0" tIns="0" rIns="0" bIns="0" rtlCol="0" anchor="ctr"/>
          <a:lstStyle/>
          <a:p>
            <a:pPr marL="0" indent="0" algn="ctr">
              <a:buNone/>
            </a:pPr>
            <a:r>
              <a:rPr lang="en-US" sz="2400" b="1" dirty="0">
                <a:solidFill>
                  <a:srgbClr val="FFFFFF"/>
                </a:solidFill>
                <a:latin typeface="Calibri" pitchFamily="34" charset="0"/>
                <a:ea typeface="Calibri" pitchFamily="34" charset="-122"/>
                <a:cs typeface="Calibri" pitchFamily="34" charset="-120"/>
              </a:rPr>
              <a:t>2</a:t>
            </a:r>
            <a:endParaRPr lang="en-US" sz="2400" dirty="0"/>
          </a:p>
        </p:txBody>
      </p:sp>
      <p:sp>
        <p:nvSpPr>
          <p:cNvPr id="10" name="Text 8"/>
          <p:cNvSpPr txBox="1"/>
          <p:nvPr/>
        </p:nvSpPr>
        <p:spPr>
          <a:xfrm>
            <a:off x="1828800" y="3337560"/>
            <a:ext cx="3931920" cy="640080"/>
          </a:xfrm>
          <a:prstGeom prst="rect">
            <a:avLst/>
          </a:prstGeom>
          <a:noFill/>
          <a:ln/>
        </p:spPr>
        <p:txBody>
          <a:bodyPr wrap="square" lIns="0" tIns="0" rIns="0" bIns="0" rtlCol="0" anchor="ctr"/>
          <a:lstStyle/>
          <a:p>
            <a:pPr marL="0" indent="0">
              <a:buNone/>
            </a:pPr>
            <a:r>
              <a:rPr lang="en-US" sz="2400" dirty="0">
                <a:solidFill>
                  <a:srgbClr val="1F2937"/>
                </a:solidFill>
                <a:latin typeface="Calibri" pitchFamily="34" charset="0"/>
                <a:ea typeface="Calibri" pitchFamily="34" charset="-122"/>
                <a:cs typeface="Calibri" pitchFamily="34" charset="-120"/>
              </a:rPr>
              <a:t>Measurement</a:t>
            </a:r>
            <a:endParaRPr lang="en-US" sz="2400" dirty="0"/>
          </a:p>
        </p:txBody>
      </p:sp>
      <p:sp>
        <p:nvSpPr>
          <p:cNvPr id="11" name="Shape 9"/>
          <p:cNvSpPr/>
          <p:nvPr/>
        </p:nvSpPr>
        <p:spPr>
          <a:xfrm>
            <a:off x="1005840" y="4114800"/>
            <a:ext cx="640080" cy="640080"/>
          </a:xfrm>
          <a:prstGeom prst="ellipse">
            <a:avLst/>
          </a:prstGeom>
          <a:solidFill>
            <a:srgbClr val="F28C28"/>
          </a:solidFill>
          <a:ln/>
        </p:spPr>
        <p:txBody>
          <a:bodyPr/>
          <a:lstStyle/>
          <a:p>
            <a:endParaRPr lang="zh-CN" altLang="en-US"/>
          </a:p>
        </p:txBody>
      </p:sp>
      <p:sp>
        <p:nvSpPr>
          <p:cNvPr id="12" name="Text 10"/>
          <p:cNvSpPr txBox="1"/>
          <p:nvPr/>
        </p:nvSpPr>
        <p:spPr>
          <a:xfrm>
            <a:off x="1005840" y="4114800"/>
            <a:ext cx="640080" cy="640080"/>
          </a:xfrm>
          <a:prstGeom prst="rect">
            <a:avLst/>
          </a:prstGeom>
          <a:noFill/>
          <a:ln/>
        </p:spPr>
        <p:txBody>
          <a:bodyPr wrap="square" lIns="0" tIns="0" rIns="0" bIns="0" rtlCol="0" anchor="ctr"/>
          <a:lstStyle/>
          <a:p>
            <a:pPr marL="0" indent="0" algn="ctr">
              <a:buNone/>
            </a:pPr>
            <a:r>
              <a:rPr lang="en-US" sz="2400" b="1" dirty="0">
                <a:solidFill>
                  <a:srgbClr val="FFFFFF"/>
                </a:solidFill>
                <a:latin typeface="Calibri" pitchFamily="34" charset="0"/>
                <a:ea typeface="Calibri" pitchFamily="34" charset="-122"/>
                <a:cs typeface="Calibri" pitchFamily="34" charset="-120"/>
              </a:rPr>
              <a:t>3</a:t>
            </a:r>
            <a:endParaRPr lang="en-US" sz="2400" dirty="0"/>
          </a:p>
        </p:txBody>
      </p:sp>
      <p:sp>
        <p:nvSpPr>
          <p:cNvPr id="13" name="Text 11"/>
          <p:cNvSpPr txBox="1"/>
          <p:nvPr/>
        </p:nvSpPr>
        <p:spPr>
          <a:xfrm>
            <a:off x="1828800" y="4114800"/>
            <a:ext cx="3931920" cy="640080"/>
          </a:xfrm>
          <a:prstGeom prst="rect">
            <a:avLst/>
          </a:prstGeom>
          <a:noFill/>
          <a:ln/>
        </p:spPr>
        <p:txBody>
          <a:bodyPr wrap="square" lIns="0" tIns="0" rIns="0" bIns="0" rtlCol="0" anchor="ctr"/>
          <a:lstStyle/>
          <a:p>
            <a:pPr marL="0" indent="0">
              <a:buNone/>
            </a:pPr>
            <a:r>
              <a:rPr lang="en-US" sz="2400" dirty="0">
                <a:solidFill>
                  <a:srgbClr val="1F2937"/>
                </a:solidFill>
                <a:latin typeface="Calibri" pitchFamily="34" charset="0"/>
                <a:ea typeface="Calibri" pitchFamily="34" charset="-122"/>
                <a:cs typeface="Calibri" pitchFamily="34" charset="-120"/>
              </a:rPr>
              <a:t>Geometry</a:t>
            </a:r>
            <a:endParaRPr lang="en-US" sz="2400" dirty="0"/>
          </a:p>
        </p:txBody>
      </p:sp>
      <p:sp>
        <p:nvSpPr>
          <p:cNvPr id="14" name="Shape 12"/>
          <p:cNvSpPr/>
          <p:nvPr/>
        </p:nvSpPr>
        <p:spPr>
          <a:xfrm>
            <a:off x="1005840" y="4892040"/>
            <a:ext cx="640080" cy="640080"/>
          </a:xfrm>
          <a:prstGeom prst="ellipse">
            <a:avLst/>
          </a:prstGeom>
          <a:solidFill>
            <a:srgbClr val="1B3A8C"/>
          </a:solidFill>
          <a:ln/>
        </p:spPr>
        <p:txBody>
          <a:bodyPr/>
          <a:lstStyle/>
          <a:p>
            <a:endParaRPr lang="zh-CN" altLang="en-US"/>
          </a:p>
        </p:txBody>
      </p:sp>
      <p:sp>
        <p:nvSpPr>
          <p:cNvPr id="15" name="Text 13"/>
          <p:cNvSpPr txBox="1"/>
          <p:nvPr/>
        </p:nvSpPr>
        <p:spPr>
          <a:xfrm>
            <a:off x="1005840" y="4892040"/>
            <a:ext cx="640080" cy="640080"/>
          </a:xfrm>
          <a:prstGeom prst="rect">
            <a:avLst/>
          </a:prstGeom>
          <a:noFill/>
          <a:ln/>
        </p:spPr>
        <p:txBody>
          <a:bodyPr wrap="square" lIns="0" tIns="0" rIns="0" bIns="0" rtlCol="0" anchor="ctr"/>
          <a:lstStyle/>
          <a:p>
            <a:pPr marL="0" indent="0" algn="ctr">
              <a:buNone/>
            </a:pPr>
            <a:r>
              <a:rPr lang="en-US" sz="2400" b="1" dirty="0">
                <a:solidFill>
                  <a:srgbClr val="FFFFFF"/>
                </a:solidFill>
                <a:latin typeface="Calibri" pitchFamily="34" charset="0"/>
                <a:ea typeface="Calibri" pitchFamily="34" charset="-122"/>
                <a:cs typeface="Calibri" pitchFamily="34" charset="-120"/>
              </a:rPr>
              <a:t>4</a:t>
            </a:r>
            <a:endParaRPr lang="en-US" sz="2400" dirty="0"/>
          </a:p>
        </p:txBody>
      </p:sp>
      <p:sp>
        <p:nvSpPr>
          <p:cNvPr id="16" name="Text 14"/>
          <p:cNvSpPr txBox="1"/>
          <p:nvPr/>
        </p:nvSpPr>
        <p:spPr>
          <a:xfrm>
            <a:off x="1828800" y="4892040"/>
            <a:ext cx="3931920" cy="640080"/>
          </a:xfrm>
          <a:prstGeom prst="rect">
            <a:avLst/>
          </a:prstGeom>
          <a:noFill/>
          <a:ln/>
        </p:spPr>
        <p:txBody>
          <a:bodyPr wrap="square" lIns="0" tIns="0" rIns="0" bIns="0" rtlCol="0" anchor="ctr"/>
          <a:lstStyle/>
          <a:p>
            <a:pPr marL="0" indent="0">
              <a:buNone/>
            </a:pPr>
            <a:r>
              <a:rPr lang="en-US" sz="2400" dirty="0">
                <a:solidFill>
                  <a:srgbClr val="1F2937"/>
                </a:solidFill>
                <a:latin typeface="Calibri" pitchFamily="34" charset="0"/>
                <a:ea typeface="Calibri" pitchFamily="34" charset="-122"/>
                <a:cs typeface="Calibri" pitchFamily="34" charset="-120"/>
              </a:rPr>
              <a:t>Problem solving</a:t>
            </a:r>
            <a:endParaRPr lang="en-US" sz="2400" dirty="0"/>
          </a:p>
        </p:txBody>
      </p:sp>
      <p:sp>
        <p:nvSpPr>
          <p:cNvPr id="17" name="Shape 15"/>
          <p:cNvSpPr/>
          <p:nvPr/>
        </p:nvSpPr>
        <p:spPr>
          <a:xfrm>
            <a:off x="6309360" y="1554480"/>
            <a:ext cx="5394960" cy="4206240"/>
          </a:xfrm>
          <a:prstGeom prst="roundRect">
            <a:avLst>
              <a:gd name="adj" fmla="val 3261"/>
            </a:avLst>
          </a:prstGeom>
          <a:solidFill>
            <a:srgbClr val="1B3A8C"/>
          </a:solidFill>
          <a:ln/>
        </p:spPr>
        <p:txBody>
          <a:bodyPr/>
          <a:lstStyle/>
          <a:p>
            <a:endParaRPr lang="zh-CN" altLang="en-US"/>
          </a:p>
        </p:txBody>
      </p:sp>
      <p:sp>
        <p:nvSpPr>
          <p:cNvPr id="18" name="Text 16"/>
          <p:cNvSpPr txBox="1"/>
          <p:nvPr/>
        </p:nvSpPr>
        <p:spPr>
          <a:xfrm>
            <a:off x="6675120" y="1828800"/>
            <a:ext cx="4663440" cy="822960"/>
          </a:xfrm>
          <a:prstGeom prst="rect">
            <a:avLst/>
          </a:prstGeom>
          <a:noFill/>
          <a:ln/>
        </p:spPr>
        <p:txBody>
          <a:bodyPr wrap="square" lIns="0" tIns="0" rIns="0" bIns="0" rtlCol="0" anchor="t"/>
          <a:lstStyle/>
          <a:p>
            <a:pPr marL="0" indent="0">
              <a:buNone/>
            </a:pPr>
            <a:r>
              <a:rPr lang="en-US" sz="2200" b="1" dirty="0">
                <a:solidFill>
                  <a:srgbClr val="F28C28"/>
                </a:solidFill>
                <a:latin typeface="Calibri" pitchFamily="34" charset="0"/>
                <a:ea typeface="Calibri" pitchFamily="34" charset="-122"/>
                <a:cs typeface="Calibri" pitchFamily="34" charset="-120"/>
              </a:rPr>
              <a:t>The direction</a:t>
            </a:r>
            <a:endParaRPr lang="en-US" sz="2200" dirty="0"/>
          </a:p>
        </p:txBody>
      </p:sp>
      <p:sp>
        <p:nvSpPr>
          <p:cNvPr id="19" name="Text 17"/>
          <p:cNvSpPr txBox="1"/>
          <p:nvPr/>
        </p:nvSpPr>
        <p:spPr>
          <a:xfrm>
            <a:off x="6675120" y="2743200"/>
            <a:ext cx="4663440" cy="1828800"/>
          </a:xfrm>
          <a:prstGeom prst="rect">
            <a:avLst/>
          </a:prstGeom>
          <a:noFill/>
          <a:ln/>
        </p:spPr>
        <p:txBody>
          <a:bodyPr wrap="square" lIns="0" tIns="0" rIns="0" bIns="0" rtlCol="0" anchor="t"/>
          <a:lstStyle/>
          <a:p>
            <a:pPr marL="0" indent="0">
              <a:spcAft>
                <a:spcPts val="600"/>
              </a:spcAft>
              <a:buNone/>
            </a:pPr>
            <a:r>
              <a:rPr lang="en-US" sz="3400" b="1" dirty="0">
                <a:solidFill>
                  <a:srgbClr val="FFFFFF"/>
                </a:solidFill>
                <a:latin typeface="Calibri" pitchFamily="34" charset="0"/>
                <a:ea typeface="Calibri" pitchFamily="34" charset="-122"/>
                <a:cs typeface="Calibri" pitchFamily="34" charset="-120"/>
              </a:rPr>
              <a:t>Touch it</a:t>
            </a:r>
            <a:endParaRPr lang="en-US" sz="3400" dirty="0"/>
          </a:p>
          <a:p>
            <a:pPr marL="0" indent="0">
              <a:spcAft>
                <a:spcPts val="600"/>
              </a:spcAft>
              <a:buNone/>
            </a:pPr>
            <a:r>
              <a:rPr lang="en-US" sz="3400" b="1" dirty="0">
                <a:solidFill>
                  <a:srgbClr val="FFFFFF"/>
                </a:solidFill>
                <a:latin typeface="Calibri" pitchFamily="34" charset="0"/>
                <a:ea typeface="Calibri" pitchFamily="34" charset="-122"/>
                <a:cs typeface="Calibri" pitchFamily="34" charset="-120"/>
              </a:rPr>
              <a:t>Say it</a:t>
            </a:r>
            <a:endParaRPr lang="en-US" sz="3400" dirty="0"/>
          </a:p>
          <a:p>
            <a:pPr marL="0" indent="0">
              <a:spcAft>
                <a:spcPts val="600"/>
              </a:spcAft>
              <a:buNone/>
            </a:pPr>
            <a:r>
              <a:rPr lang="en-US" sz="3400" b="1" dirty="0">
                <a:solidFill>
                  <a:srgbClr val="FFFFFF"/>
                </a:solidFill>
                <a:latin typeface="Calibri" pitchFamily="34" charset="0"/>
                <a:ea typeface="Calibri" pitchFamily="34" charset="-122"/>
                <a:cs typeface="Calibri" pitchFamily="34" charset="-120"/>
              </a:rPr>
              <a:t>Make it abstract</a:t>
            </a:r>
            <a:endParaRPr lang="en-US" sz="3400" dirty="0"/>
          </a:p>
        </p:txBody>
      </p:sp>
      <p:sp>
        <p:nvSpPr>
          <p:cNvPr id="20" name="Text 18"/>
          <p:cNvSpPr txBox="1"/>
          <p:nvPr/>
        </p:nvSpPr>
        <p:spPr>
          <a:xfrm>
            <a:off x="6675120" y="4663440"/>
            <a:ext cx="4663440" cy="914400"/>
          </a:xfrm>
          <a:prstGeom prst="rect">
            <a:avLst/>
          </a:prstGeom>
          <a:noFill/>
          <a:ln/>
        </p:spPr>
        <p:txBody>
          <a:bodyPr wrap="square" lIns="0" tIns="0" rIns="0" bIns="0" rtlCol="0" anchor="t"/>
          <a:lstStyle/>
          <a:p>
            <a:pPr marL="0" indent="0">
              <a:buNone/>
            </a:pPr>
            <a:r>
              <a:rPr lang="en-US" sz="1800" dirty="0">
                <a:solidFill>
                  <a:srgbClr val="CADCFC"/>
                </a:solidFill>
                <a:latin typeface="Calibri" pitchFamily="34" charset="0"/>
                <a:ea typeface="Calibri" pitchFamily="34" charset="-122"/>
                <a:cs typeface="Calibri" pitchFamily="34" charset="-120"/>
              </a:rPr>
              <a:t>French math  </a:t>
            </a:r>
            <a:r>
              <a:rPr lang="en-US" altLang="zh-CN" dirty="0">
                <a:solidFill>
                  <a:srgbClr val="CADCFC"/>
                </a:solidFill>
                <a:latin typeface="Calibri" pitchFamily="34" charset="0"/>
                <a:ea typeface="Calibri" pitchFamily="34" charset="-122"/>
                <a:cs typeface="Calibri" pitchFamily="34" charset="-120"/>
              </a:rPr>
              <a:t>-&gt;</a:t>
            </a:r>
            <a:r>
              <a:rPr lang="en-US" sz="1800" dirty="0">
                <a:solidFill>
                  <a:srgbClr val="CADCFC"/>
                </a:solidFill>
                <a:latin typeface="Calibri" pitchFamily="34" charset="0"/>
                <a:ea typeface="Calibri" pitchFamily="34" charset="-122"/>
                <a:cs typeface="Calibri" pitchFamily="34" charset="-120"/>
              </a:rPr>
              <a:t> Singapore Math, but it points the same way.</a:t>
            </a:r>
            <a:endParaRPr lang="en-US" sz="1800" dirty="0"/>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EAF1FB"/>
        </a:solidFill>
        <a:effectLst/>
      </p:bgPr>
    </p:bg>
    <p:spTree>
      <p:nvGrpSpPr>
        <p:cNvPr id="1" name=""/>
        <p:cNvGrpSpPr/>
        <p:nvPr/>
      </p:nvGrpSpPr>
      <p:grpSpPr/>
      <p:sp>
        <p:nvSpPr>
          <p:cNvPr id="2" name="TextBox 1"/>
          <p:cNvSpPr txBox="1"/>
          <p:nvPr/>
        </p:nvSpPr>
        <p:spPr>
          <a:xfrm>
            <a:off x="640080" y="457200"/>
            <a:ext cx="10881360" cy="822960"/>
          </a:xfrm>
          <a:prstGeom prst="rect">
            <a:avLst/>
          </a:prstGeom>
          <a:noFill/>
        </p:spPr>
        <p:txBody>
          <a:bodyPr wrap="square" lIns="0" rIns="0" tIns="0" bIns="0" anchor="ctr">
            <a:spAutoFit/>
          </a:bodyPr>
          <a:lstStyle/>
          <a:p>
            <a:pPr algn="l"/>
            <a:r>
              <a:rPr sz="4400" b="1" i="0">
                <a:solidFill>
                  <a:srgbClr val="1B3A8C"/>
                </a:solidFill>
                <a:latin typeface="Calibri"/>
              </a:rPr>
              <a:t>The method we follow</a:t>
            </a:r>
          </a:p>
        </p:txBody>
      </p:sp>
      <p:sp>
        <p:nvSpPr>
          <p:cNvPr id="3" name="Rounded Rectangle 2"/>
          <p:cNvSpPr/>
          <p:nvPr/>
        </p:nvSpPr>
        <p:spPr>
          <a:xfrm>
            <a:off x="640080" y="1463040"/>
            <a:ext cx="3840480" cy="3840480"/>
          </a:xfrm>
          <a:prstGeom prst="roundRect">
            <a:avLst>
              <a:gd name="adj" fmla="val 2857"/>
            </a:avLst>
          </a:prstGeom>
          <a:solidFill>
            <a:srgbClr val="1B3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60120" y="2011680"/>
            <a:ext cx="3200400" cy="1463040"/>
          </a:xfrm>
          <a:prstGeom prst="rect">
            <a:avLst/>
          </a:prstGeom>
          <a:noFill/>
        </p:spPr>
        <p:txBody>
          <a:bodyPr wrap="square" lIns="0" rIns="0" tIns="0" bIns="0" anchor="t">
            <a:spAutoFit/>
          </a:bodyPr>
          <a:lstStyle/>
          <a:p>
            <a:pPr algn="l"/>
            <a:r>
              <a:rPr sz="4400" b="1" i="0">
                <a:solidFill>
                  <a:srgbClr val="FFFFFF"/>
                </a:solidFill>
                <a:latin typeface="Calibri"/>
              </a:rPr>
              <a:t>Singapore</a:t>
            </a:r>
          </a:p>
          <a:p>
            <a:pPr algn="l"/>
            <a:r>
              <a:rPr sz="4400" b="1" i="0">
                <a:solidFill>
                  <a:srgbClr val="FFFFFF"/>
                </a:solidFill>
                <a:latin typeface="Calibri"/>
              </a:rPr>
              <a:t>Math</a:t>
            </a:r>
          </a:p>
        </p:txBody>
      </p:sp>
      <p:sp>
        <p:nvSpPr>
          <p:cNvPr id="5" name="TextBox 4"/>
          <p:cNvSpPr txBox="1"/>
          <p:nvPr/>
        </p:nvSpPr>
        <p:spPr>
          <a:xfrm>
            <a:off x="960120" y="3657600"/>
            <a:ext cx="3200400" cy="1188720"/>
          </a:xfrm>
          <a:prstGeom prst="rect">
            <a:avLst/>
          </a:prstGeom>
          <a:noFill/>
        </p:spPr>
        <p:txBody>
          <a:bodyPr wrap="square" lIns="0" rIns="0" tIns="0" bIns="0" anchor="t">
            <a:spAutoFit/>
          </a:bodyPr>
          <a:lstStyle/>
          <a:p>
            <a:pPr algn="l"/>
            <a:r>
              <a:rPr sz="2200" b="0" i="0">
                <a:solidFill>
                  <a:srgbClr val="CADCFC"/>
                </a:solidFill>
                <a:latin typeface="Calibri"/>
              </a:rPr>
              <a:t>our core method</a:t>
            </a:r>
          </a:p>
          <a:p>
            <a:pPr algn="l"/>
            <a:r>
              <a:rPr sz="2200" b="0" i="0">
                <a:solidFill>
                  <a:srgbClr val="CADCFC"/>
                </a:solidFill>
                <a:latin typeface="Calibri"/>
              </a:rPr>
              <a:t>and our books</a:t>
            </a:r>
          </a:p>
        </p:txBody>
      </p:sp>
      <p:sp>
        <p:nvSpPr>
          <p:cNvPr id="6" name="Rounded Rectangle 5"/>
          <p:cNvSpPr/>
          <p:nvPr/>
        </p:nvSpPr>
        <p:spPr>
          <a:xfrm>
            <a:off x="4846320" y="1463040"/>
            <a:ext cx="6858000" cy="1188720"/>
          </a:xfrm>
          <a:prstGeom prst="roundRect">
            <a:avLst>
              <a:gd name="adj" fmla="val 923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5120640" y="1737360"/>
            <a:ext cx="640080" cy="640080"/>
          </a:xfrm>
          <a:prstGeom prst="ellipse">
            <a:avLst/>
          </a:prstGeom>
          <a:solidFill>
            <a:srgbClr val="1B3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120640" y="1737360"/>
            <a:ext cx="640080" cy="640080"/>
          </a:xfrm>
          <a:prstGeom prst="rect">
            <a:avLst/>
          </a:prstGeom>
          <a:noFill/>
        </p:spPr>
        <p:txBody>
          <a:bodyPr wrap="square" lIns="0" rIns="0" tIns="0" bIns="0" anchor="ctr">
            <a:spAutoFit/>
          </a:bodyPr>
          <a:lstStyle/>
          <a:p>
            <a:pPr algn="ctr"/>
            <a:r>
              <a:rPr sz="2400" b="1" i="0">
                <a:solidFill>
                  <a:srgbClr val="FFFFFF"/>
                </a:solidFill>
                <a:latin typeface="Calibri"/>
              </a:rPr>
              <a:t>1</a:t>
            </a:r>
          </a:p>
        </p:txBody>
      </p:sp>
      <p:sp>
        <p:nvSpPr>
          <p:cNvPr id="9" name="TextBox 8"/>
          <p:cNvSpPr txBox="1"/>
          <p:nvPr/>
        </p:nvSpPr>
        <p:spPr>
          <a:xfrm>
            <a:off x="6035040" y="1627632"/>
            <a:ext cx="5486400" cy="502920"/>
          </a:xfrm>
          <a:prstGeom prst="rect">
            <a:avLst/>
          </a:prstGeom>
          <a:noFill/>
        </p:spPr>
        <p:txBody>
          <a:bodyPr wrap="square" lIns="0" rIns="0" tIns="0" bIns="0" anchor="t">
            <a:spAutoFit/>
          </a:bodyPr>
          <a:lstStyle/>
          <a:p>
            <a:pPr algn="l"/>
            <a:r>
              <a:rPr sz="2400" b="1" i="0">
                <a:solidFill>
                  <a:srgbClr val="1B3A8C"/>
                </a:solidFill>
                <a:latin typeface="Calibri"/>
              </a:rPr>
              <a:t>Concrete → Pictorial → Abstract</a:t>
            </a:r>
          </a:p>
        </p:txBody>
      </p:sp>
      <p:sp>
        <p:nvSpPr>
          <p:cNvPr id="10" name="TextBox 9"/>
          <p:cNvSpPr txBox="1"/>
          <p:nvPr/>
        </p:nvSpPr>
        <p:spPr>
          <a:xfrm>
            <a:off x="6035040" y="2148840"/>
            <a:ext cx="5486400" cy="411480"/>
          </a:xfrm>
          <a:prstGeom prst="rect">
            <a:avLst/>
          </a:prstGeom>
          <a:noFill/>
        </p:spPr>
        <p:txBody>
          <a:bodyPr wrap="square" lIns="0" rIns="0" tIns="0" bIns="0" anchor="t">
            <a:spAutoFit/>
          </a:bodyPr>
          <a:lstStyle/>
          <a:p>
            <a:pPr algn="l"/>
            <a:r>
              <a:rPr sz="1800" b="0" i="0">
                <a:solidFill>
                  <a:srgbClr val="5B6472"/>
                </a:solidFill>
                <a:latin typeface="Calibri"/>
              </a:rPr>
              <a:t>touch it, draw it, then write it</a:t>
            </a:r>
          </a:p>
        </p:txBody>
      </p:sp>
      <p:sp>
        <p:nvSpPr>
          <p:cNvPr id="11" name="Rounded Rectangle 10"/>
          <p:cNvSpPr/>
          <p:nvPr/>
        </p:nvSpPr>
        <p:spPr>
          <a:xfrm>
            <a:off x="4846320" y="2788920"/>
            <a:ext cx="6858000" cy="1188720"/>
          </a:xfrm>
          <a:prstGeom prst="roundRect">
            <a:avLst>
              <a:gd name="adj" fmla="val 923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5120640" y="3063239"/>
            <a:ext cx="640080" cy="640080"/>
          </a:xfrm>
          <a:prstGeom prst="ellipse">
            <a:avLst/>
          </a:prstGeom>
          <a:solidFill>
            <a:srgbClr val="1FA3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120640" y="3063239"/>
            <a:ext cx="640080" cy="640080"/>
          </a:xfrm>
          <a:prstGeom prst="rect">
            <a:avLst/>
          </a:prstGeom>
          <a:noFill/>
        </p:spPr>
        <p:txBody>
          <a:bodyPr wrap="square" lIns="0" rIns="0" tIns="0" bIns="0" anchor="ctr">
            <a:spAutoFit/>
          </a:bodyPr>
          <a:lstStyle/>
          <a:p>
            <a:pPr algn="ctr"/>
            <a:r>
              <a:rPr sz="2400" b="1" i="0">
                <a:solidFill>
                  <a:srgbClr val="FFFFFF"/>
                </a:solidFill>
                <a:latin typeface="Calibri"/>
              </a:rPr>
              <a:t>2</a:t>
            </a:r>
          </a:p>
        </p:txBody>
      </p:sp>
      <p:sp>
        <p:nvSpPr>
          <p:cNvPr id="14" name="TextBox 13"/>
          <p:cNvSpPr txBox="1"/>
          <p:nvPr/>
        </p:nvSpPr>
        <p:spPr>
          <a:xfrm>
            <a:off x="6035040" y="2953512"/>
            <a:ext cx="5486400" cy="502920"/>
          </a:xfrm>
          <a:prstGeom prst="rect">
            <a:avLst/>
          </a:prstGeom>
          <a:noFill/>
        </p:spPr>
        <p:txBody>
          <a:bodyPr wrap="square" lIns="0" rIns="0" tIns="0" bIns="0" anchor="t">
            <a:spAutoFit/>
          </a:bodyPr>
          <a:lstStyle/>
          <a:p>
            <a:pPr algn="l"/>
            <a:r>
              <a:rPr sz="2400" b="1" i="0">
                <a:solidFill>
                  <a:srgbClr val="1B3A8C"/>
                </a:solidFill>
                <a:latin typeface="Calibri"/>
              </a:rPr>
              <a:t>The bar model</a:t>
            </a:r>
          </a:p>
        </p:txBody>
      </p:sp>
      <p:sp>
        <p:nvSpPr>
          <p:cNvPr id="15" name="TextBox 14"/>
          <p:cNvSpPr txBox="1"/>
          <p:nvPr/>
        </p:nvSpPr>
        <p:spPr>
          <a:xfrm>
            <a:off x="6035040" y="3474720"/>
            <a:ext cx="5486400" cy="411480"/>
          </a:xfrm>
          <a:prstGeom prst="rect">
            <a:avLst/>
          </a:prstGeom>
          <a:noFill/>
        </p:spPr>
        <p:txBody>
          <a:bodyPr wrap="square" lIns="0" rIns="0" tIns="0" bIns="0" anchor="t">
            <a:spAutoFit/>
          </a:bodyPr>
          <a:lstStyle/>
          <a:p>
            <a:pPr algn="l"/>
            <a:r>
              <a:rPr sz="1800" b="0" i="0">
                <a:solidFill>
                  <a:srgbClr val="5B6472"/>
                </a:solidFill>
                <a:latin typeface="Calibri"/>
              </a:rPr>
              <a:t>draw the problem before solving it</a:t>
            </a:r>
          </a:p>
        </p:txBody>
      </p:sp>
      <p:sp>
        <p:nvSpPr>
          <p:cNvPr id="16" name="Rounded Rectangle 15"/>
          <p:cNvSpPr/>
          <p:nvPr/>
        </p:nvSpPr>
        <p:spPr>
          <a:xfrm>
            <a:off x="4846320" y="4114800"/>
            <a:ext cx="6858000" cy="1188720"/>
          </a:xfrm>
          <a:prstGeom prst="roundRect">
            <a:avLst>
              <a:gd name="adj" fmla="val 923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5120640" y="4389120"/>
            <a:ext cx="640080" cy="64008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120640" y="4389120"/>
            <a:ext cx="640080" cy="640080"/>
          </a:xfrm>
          <a:prstGeom prst="rect">
            <a:avLst/>
          </a:prstGeom>
          <a:noFill/>
        </p:spPr>
        <p:txBody>
          <a:bodyPr wrap="square" lIns="0" rIns="0" tIns="0" bIns="0" anchor="ctr">
            <a:spAutoFit/>
          </a:bodyPr>
          <a:lstStyle/>
          <a:p>
            <a:pPr algn="ctr"/>
            <a:r>
              <a:rPr sz="2400" b="1" i="0">
                <a:solidFill>
                  <a:srgbClr val="FFFFFF"/>
                </a:solidFill>
                <a:latin typeface="Calibri"/>
              </a:rPr>
              <a:t>3</a:t>
            </a:r>
          </a:p>
        </p:txBody>
      </p:sp>
      <p:sp>
        <p:nvSpPr>
          <p:cNvPr id="19" name="TextBox 18"/>
          <p:cNvSpPr txBox="1"/>
          <p:nvPr/>
        </p:nvSpPr>
        <p:spPr>
          <a:xfrm>
            <a:off x="6035040" y="4279392"/>
            <a:ext cx="5486400" cy="502920"/>
          </a:xfrm>
          <a:prstGeom prst="rect">
            <a:avLst/>
          </a:prstGeom>
          <a:noFill/>
        </p:spPr>
        <p:txBody>
          <a:bodyPr wrap="square" lIns="0" rIns="0" tIns="0" bIns="0" anchor="t">
            <a:spAutoFit/>
          </a:bodyPr>
          <a:lstStyle/>
          <a:p>
            <a:pPr algn="l"/>
            <a:r>
              <a:rPr sz="2400" b="1" i="0">
                <a:solidFill>
                  <a:srgbClr val="1B3A8C"/>
                </a:solidFill>
                <a:latin typeface="Calibri"/>
              </a:rPr>
              <a:t>Say it in words</a:t>
            </a:r>
          </a:p>
        </p:txBody>
      </p:sp>
      <p:sp>
        <p:nvSpPr>
          <p:cNvPr id="20" name="TextBox 19"/>
          <p:cNvSpPr txBox="1"/>
          <p:nvPr/>
        </p:nvSpPr>
        <p:spPr>
          <a:xfrm>
            <a:off x="6035040" y="4800600"/>
            <a:ext cx="5486400" cy="411480"/>
          </a:xfrm>
          <a:prstGeom prst="rect">
            <a:avLst/>
          </a:prstGeom>
          <a:noFill/>
        </p:spPr>
        <p:txBody>
          <a:bodyPr wrap="square" lIns="0" rIns="0" tIns="0" bIns="0" anchor="t">
            <a:spAutoFit/>
          </a:bodyPr>
          <a:lstStyle/>
          <a:p>
            <a:pPr algn="l"/>
            <a:r>
              <a:rPr sz="1800" b="0" i="0">
                <a:solidFill>
                  <a:srgbClr val="5B6472"/>
                </a:solidFill>
                <a:latin typeface="Calibri"/>
              </a:rPr>
              <a:t>explain the reasoning out loud, in English</a:t>
            </a:r>
          </a:p>
        </p:txBody>
      </p:sp>
      <p:sp>
        <p:nvSpPr>
          <p:cNvPr id="21" name="Rounded Rectangle 20"/>
          <p:cNvSpPr/>
          <p:nvPr/>
        </p:nvSpPr>
        <p:spPr>
          <a:xfrm>
            <a:off x="640080" y="5532120"/>
            <a:ext cx="11064240" cy="731520"/>
          </a:xfrm>
          <a:prstGeom prst="roundRect">
            <a:avLst>
              <a:gd name="adj" fmla="val 15000"/>
            </a:avLst>
          </a:prstGeom>
          <a:solidFill>
            <a:srgbClr val="1B3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0080" y="5532120"/>
            <a:ext cx="11064240" cy="731520"/>
          </a:xfrm>
          <a:prstGeom prst="rect">
            <a:avLst/>
          </a:prstGeom>
          <a:noFill/>
        </p:spPr>
        <p:txBody>
          <a:bodyPr wrap="square" lIns="0" rIns="0" tIns="0" bIns="0" anchor="ctr">
            <a:spAutoFit/>
          </a:bodyPr>
          <a:lstStyle/>
          <a:p>
            <a:pPr algn="ctr"/>
            <a:r>
              <a:rPr sz="2600" b="1" i="0">
                <a:solidFill>
                  <a:srgbClr val="FFFFFF"/>
                </a:solidFill>
                <a:latin typeface="Calibri"/>
              </a:rPr>
              <a:t>One method for both: Math Support and Logic Training</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40080" y="365760"/>
            <a:ext cx="10881360" cy="822960"/>
          </a:xfrm>
          <a:prstGeom prst="rect">
            <a:avLst/>
          </a:prstGeom>
          <a:noFill/>
        </p:spPr>
        <p:txBody>
          <a:bodyPr wrap="square" lIns="0" rIns="0" tIns="0" bIns="0" anchor="ctr">
            <a:spAutoFit/>
          </a:bodyPr>
          <a:lstStyle/>
          <a:p>
            <a:pPr algn="l"/>
            <a:r>
              <a:rPr sz="4000" b="1" i="0">
                <a:solidFill>
                  <a:srgbClr val="1B3A8C"/>
                </a:solidFill>
                <a:latin typeface="Calibri"/>
              </a:rPr>
              <a:t>Math Support: see it before you write it</a:t>
            </a:r>
          </a:p>
        </p:txBody>
      </p:sp>
      <p:sp>
        <p:nvSpPr>
          <p:cNvPr id="3" name="Rounded Rectangle 2"/>
          <p:cNvSpPr/>
          <p:nvPr/>
        </p:nvSpPr>
        <p:spPr>
          <a:xfrm>
            <a:off x="640080" y="1234440"/>
            <a:ext cx="11064240" cy="777240"/>
          </a:xfrm>
          <a:prstGeom prst="roundRect">
            <a:avLst>
              <a:gd name="adj" fmla="val 14117"/>
            </a:avLst>
          </a:prstGeom>
          <a:solidFill>
            <a:srgbClr val="1B3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234440"/>
            <a:ext cx="10515600" cy="777240"/>
          </a:xfrm>
          <a:prstGeom prst="rect">
            <a:avLst/>
          </a:prstGeom>
          <a:noFill/>
        </p:spPr>
        <p:txBody>
          <a:bodyPr wrap="square" lIns="0" rIns="0" tIns="0" bIns="0" anchor="ctr">
            <a:spAutoFit/>
          </a:bodyPr>
          <a:lstStyle/>
          <a:p>
            <a:pPr algn="l"/>
            <a:r>
              <a:rPr sz="2400" b="1" i="0">
                <a:solidFill>
                  <a:srgbClr val="FFFFFF"/>
                </a:solidFill>
                <a:latin typeface="Calibri"/>
              </a:rPr>
              <a:t>Example: Tom has 12 sweets. He gives 1/3 of them to Anna. How many are left?</a:t>
            </a:r>
          </a:p>
        </p:txBody>
      </p:sp>
      <p:sp>
        <p:nvSpPr>
          <p:cNvPr id="5" name="Rounded Rectangle 4"/>
          <p:cNvSpPr/>
          <p:nvPr/>
        </p:nvSpPr>
        <p:spPr>
          <a:xfrm>
            <a:off x="640080" y="2240280"/>
            <a:ext cx="3383280" cy="3108960"/>
          </a:xfrm>
          <a:prstGeom prst="roundRect">
            <a:avLst>
              <a:gd name="adj" fmla="val 3529"/>
            </a:avLst>
          </a:prstGeom>
          <a:solidFill>
            <a:srgbClr val="EAF1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2377440"/>
            <a:ext cx="2834640" cy="457200"/>
          </a:xfrm>
          <a:prstGeom prst="rect">
            <a:avLst/>
          </a:prstGeom>
          <a:noFill/>
        </p:spPr>
        <p:txBody>
          <a:bodyPr wrap="square" lIns="0" rIns="0" tIns="0" bIns="0" anchor="t">
            <a:spAutoFit/>
          </a:bodyPr>
          <a:lstStyle/>
          <a:p>
            <a:pPr algn="l"/>
            <a:r>
              <a:rPr sz="2400" b="1" i="0">
                <a:solidFill>
                  <a:srgbClr val="1B3A8C"/>
                </a:solidFill>
                <a:latin typeface="Calibri"/>
              </a:rPr>
              <a:t>1 · Touch it</a:t>
            </a:r>
          </a:p>
        </p:txBody>
      </p:sp>
      <p:sp>
        <p:nvSpPr>
          <p:cNvPr id="7" name="TextBox 6"/>
          <p:cNvSpPr txBox="1"/>
          <p:nvPr/>
        </p:nvSpPr>
        <p:spPr>
          <a:xfrm>
            <a:off x="914400" y="2834640"/>
            <a:ext cx="2834640" cy="320040"/>
          </a:xfrm>
          <a:prstGeom prst="rect">
            <a:avLst/>
          </a:prstGeom>
          <a:noFill/>
        </p:spPr>
        <p:txBody>
          <a:bodyPr wrap="square" lIns="0" rIns="0" tIns="0" bIns="0" anchor="t">
            <a:spAutoFit/>
          </a:bodyPr>
          <a:lstStyle/>
          <a:p>
            <a:pPr algn="l"/>
            <a:r>
              <a:rPr sz="1600" b="0" i="0">
                <a:solidFill>
                  <a:srgbClr val="5B6472"/>
                </a:solidFill>
                <a:latin typeface="Calibri"/>
              </a:rPr>
              <a:t>Concrete</a:t>
            </a:r>
          </a:p>
        </p:txBody>
      </p:sp>
      <p:sp>
        <p:nvSpPr>
          <p:cNvPr id="8" name="Oval 7"/>
          <p:cNvSpPr/>
          <p:nvPr/>
        </p:nvSpPr>
        <p:spPr>
          <a:xfrm>
            <a:off x="914400" y="3291840"/>
            <a:ext cx="347472" cy="347472"/>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3291840"/>
            <a:ext cx="347472" cy="347472"/>
          </a:xfrm>
          <a:prstGeom prst="rect">
            <a:avLst/>
          </a:prstGeom>
          <a:noFill/>
        </p:spPr>
        <p:txBody>
          <a:bodyPr wrap="square" lIns="0" rIns="0" tIns="0" bIns="0" anchor="ctr">
            <a:spAutoFit/>
          </a:bodyPr>
          <a:lstStyle/>
          <a:p>
            <a:pPr algn="ctr"/>
            <a:r>
              <a:rPr sz="1200" b="1" i="0">
                <a:solidFill>
                  <a:srgbClr val="FFFFFF"/>
                </a:solidFill>
                <a:latin typeface="Calibri"/>
              </a:rPr>
              <a:t>1</a:t>
            </a:r>
          </a:p>
        </p:txBody>
      </p:sp>
      <p:sp>
        <p:nvSpPr>
          <p:cNvPr id="10" name="Oval 9"/>
          <p:cNvSpPr/>
          <p:nvPr/>
        </p:nvSpPr>
        <p:spPr>
          <a:xfrm>
            <a:off x="1335024" y="3291840"/>
            <a:ext cx="347472" cy="347472"/>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35024" y="3291840"/>
            <a:ext cx="347472" cy="347472"/>
          </a:xfrm>
          <a:prstGeom prst="rect">
            <a:avLst/>
          </a:prstGeom>
          <a:noFill/>
        </p:spPr>
        <p:txBody>
          <a:bodyPr wrap="square" lIns="0" rIns="0" tIns="0" bIns="0" anchor="ctr">
            <a:spAutoFit/>
          </a:bodyPr>
          <a:lstStyle/>
          <a:p>
            <a:pPr algn="ctr"/>
            <a:r>
              <a:rPr sz="1200" b="1" i="0">
                <a:solidFill>
                  <a:srgbClr val="FFFFFF"/>
                </a:solidFill>
                <a:latin typeface="Calibri"/>
              </a:rPr>
              <a:t>2</a:t>
            </a:r>
          </a:p>
        </p:txBody>
      </p:sp>
      <p:sp>
        <p:nvSpPr>
          <p:cNvPr id="12" name="Oval 11"/>
          <p:cNvSpPr/>
          <p:nvPr/>
        </p:nvSpPr>
        <p:spPr>
          <a:xfrm>
            <a:off x="1755648" y="3291840"/>
            <a:ext cx="347472" cy="347472"/>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755648" y="3291840"/>
            <a:ext cx="347472" cy="347472"/>
          </a:xfrm>
          <a:prstGeom prst="rect">
            <a:avLst/>
          </a:prstGeom>
          <a:noFill/>
        </p:spPr>
        <p:txBody>
          <a:bodyPr wrap="square" lIns="0" rIns="0" tIns="0" bIns="0" anchor="ctr">
            <a:spAutoFit/>
          </a:bodyPr>
          <a:lstStyle/>
          <a:p>
            <a:pPr algn="ctr"/>
            <a:r>
              <a:rPr sz="1200" b="1" i="0">
                <a:solidFill>
                  <a:srgbClr val="FFFFFF"/>
                </a:solidFill>
                <a:latin typeface="Calibri"/>
              </a:rPr>
              <a:t>3</a:t>
            </a:r>
          </a:p>
        </p:txBody>
      </p:sp>
      <p:sp>
        <p:nvSpPr>
          <p:cNvPr id="14" name="Oval 13"/>
          <p:cNvSpPr/>
          <p:nvPr/>
        </p:nvSpPr>
        <p:spPr>
          <a:xfrm>
            <a:off x="2176272" y="3291840"/>
            <a:ext cx="347472" cy="347472"/>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176272" y="3291840"/>
            <a:ext cx="347472" cy="347472"/>
          </a:xfrm>
          <a:prstGeom prst="rect">
            <a:avLst/>
          </a:prstGeom>
          <a:noFill/>
        </p:spPr>
        <p:txBody>
          <a:bodyPr wrap="square" lIns="0" rIns="0" tIns="0" bIns="0" anchor="ctr">
            <a:spAutoFit/>
          </a:bodyPr>
          <a:lstStyle/>
          <a:p>
            <a:pPr algn="ctr"/>
            <a:r>
              <a:rPr sz="1200" b="1" i="0">
                <a:solidFill>
                  <a:srgbClr val="FFFFFF"/>
                </a:solidFill>
                <a:latin typeface="Calibri"/>
              </a:rPr>
              <a:t>4</a:t>
            </a:r>
          </a:p>
        </p:txBody>
      </p:sp>
      <p:sp>
        <p:nvSpPr>
          <p:cNvPr id="16" name="Oval 15"/>
          <p:cNvSpPr/>
          <p:nvPr/>
        </p:nvSpPr>
        <p:spPr>
          <a:xfrm>
            <a:off x="914400" y="3712464"/>
            <a:ext cx="347472" cy="347472"/>
          </a:xfrm>
          <a:prstGeom prst="ellipse">
            <a:avLst/>
          </a:prstGeom>
          <a:solidFill>
            <a:srgbClr val="1FA3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14400" y="3712464"/>
            <a:ext cx="347472" cy="347472"/>
          </a:xfrm>
          <a:prstGeom prst="rect">
            <a:avLst/>
          </a:prstGeom>
          <a:noFill/>
        </p:spPr>
        <p:txBody>
          <a:bodyPr wrap="square" lIns="0" rIns="0" tIns="0" bIns="0" anchor="ctr">
            <a:spAutoFit/>
          </a:bodyPr>
          <a:lstStyle/>
          <a:p>
            <a:pPr algn="ctr"/>
            <a:r>
              <a:rPr sz="1200" b="1" i="0">
                <a:solidFill>
                  <a:srgbClr val="FFFFFF"/>
                </a:solidFill>
                <a:latin typeface="Calibri"/>
              </a:rPr>
              <a:t>5</a:t>
            </a:r>
          </a:p>
        </p:txBody>
      </p:sp>
      <p:sp>
        <p:nvSpPr>
          <p:cNvPr id="18" name="Oval 17"/>
          <p:cNvSpPr/>
          <p:nvPr/>
        </p:nvSpPr>
        <p:spPr>
          <a:xfrm>
            <a:off x="1335024" y="3712464"/>
            <a:ext cx="347472" cy="347472"/>
          </a:xfrm>
          <a:prstGeom prst="ellipse">
            <a:avLst/>
          </a:prstGeom>
          <a:solidFill>
            <a:srgbClr val="1FA3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335024" y="3712464"/>
            <a:ext cx="347472" cy="347472"/>
          </a:xfrm>
          <a:prstGeom prst="rect">
            <a:avLst/>
          </a:prstGeom>
          <a:noFill/>
        </p:spPr>
        <p:txBody>
          <a:bodyPr wrap="square" lIns="0" rIns="0" tIns="0" bIns="0" anchor="ctr">
            <a:spAutoFit/>
          </a:bodyPr>
          <a:lstStyle/>
          <a:p>
            <a:pPr algn="ctr"/>
            <a:r>
              <a:rPr sz="1200" b="1" i="0">
                <a:solidFill>
                  <a:srgbClr val="FFFFFF"/>
                </a:solidFill>
                <a:latin typeface="Calibri"/>
              </a:rPr>
              <a:t>6</a:t>
            </a:r>
          </a:p>
        </p:txBody>
      </p:sp>
      <p:sp>
        <p:nvSpPr>
          <p:cNvPr id="20" name="Oval 19"/>
          <p:cNvSpPr/>
          <p:nvPr/>
        </p:nvSpPr>
        <p:spPr>
          <a:xfrm>
            <a:off x="1755648" y="3712464"/>
            <a:ext cx="347472" cy="347472"/>
          </a:xfrm>
          <a:prstGeom prst="ellipse">
            <a:avLst/>
          </a:prstGeom>
          <a:solidFill>
            <a:srgbClr val="1FA3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755648" y="3712464"/>
            <a:ext cx="347472" cy="347472"/>
          </a:xfrm>
          <a:prstGeom prst="rect">
            <a:avLst/>
          </a:prstGeom>
          <a:noFill/>
        </p:spPr>
        <p:txBody>
          <a:bodyPr wrap="square" lIns="0" rIns="0" tIns="0" bIns="0" anchor="ctr">
            <a:spAutoFit/>
          </a:bodyPr>
          <a:lstStyle/>
          <a:p>
            <a:pPr algn="ctr"/>
            <a:r>
              <a:rPr sz="1200" b="1" i="0">
                <a:solidFill>
                  <a:srgbClr val="FFFFFF"/>
                </a:solidFill>
                <a:latin typeface="Calibri"/>
              </a:rPr>
              <a:t>7</a:t>
            </a:r>
          </a:p>
        </p:txBody>
      </p:sp>
      <p:sp>
        <p:nvSpPr>
          <p:cNvPr id="22" name="Oval 21"/>
          <p:cNvSpPr/>
          <p:nvPr/>
        </p:nvSpPr>
        <p:spPr>
          <a:xfrm>
            <a:off x="2176272" y="3712464"/>
            <a:ext cx="347472" cy="347472"/>
          </a:xfrm>
          <a:prstGeom prst="ellipse">
            <a:avLst/>
          </a:prstGeom>
          <a:solidFill>
            <a:srgbClr val="1FA3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2176272" y="3712464"/>
            <a:ext cx="347472" cy="347472"/>
          </a:xfrm>
          <a:prstGeom prst="rect">
            <a:avLst/>
          </a:prstGeom>
          <a:noFill/>
        </p:spPr>
        <p:txBody>
          <a:bodyPr wrap="square" lIns="0" rIns="0" tIns="0" bIns="0" anchor="ctr">
            <a:spAutoFit/>
          </a:bodyPr>
          <a:lstStyle/>
          <a:p>
            <a:pPr algn="ctr"/>
            <a:r>
              <a:rPr sz="1200" b="1" i="0">
                <a:solidFill>
                  <a:srgbClr val="FFFFFF"/>
                </a:solidFill>
                <a:latin typeface="Calibri"/>
              </a:rPr>
              <a:t>8</a:t>
            </a:r>
          </a:p>
        </p:txBody>
      </p:sp>
      <p:sp>
        <p:nvSpPr>
          <p:cNvPr id="24" name="Oval 23"/>
          <p:cNvSpPr/>
          <p:nvPr/>
        </p:nvSpPr>
        <p:spPr>
          <a:xfrm>
            <a:off x="914400" y="4133088"/>
            <a:ext cx="347472" cy="347472"/>
          </a:xfrm>
          <a:prstGeom prst="ellipse">
            <a:avLst/>
          </a:prstGeom>
          <a:solidFill>
            <a:srgbClr val="1FA3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14400" y="4133088"/>
            <a:ext cx="347472" cy="347472"/>
          </a:xfrm>
          <a:prstGeom prst="rect">
            <a:avLst/>
          </a:prstGeom>
          <a:noFill/>
        </p:spPr>
        <p:txBody>
          <a:bodyPr wrap="square" lIns="0" rIns="0" tIns="0" bIns="0" anchor="ctr">
            <a:spAutoFit/>
          </a:bodyPr>
          <a:lstStyle/>
          <a:p>
            <a:pPr algn="ctr"/>
            <a:r>
              <a:rPr sz="1200" b="1" i="0">
                <a:solidFill>
                  <a:srgbClr val="FFFFFF"/>
                </a:solidFill>
                <a:latin typeface="Calibri"/>
              </a:rPr>
              <a:t>9</a:t>
            </a:r>
          </a:p>
        </p:txBody>
      </p:sp>
      <p:sp>
        <p:nvSpPr>
          <p:cNvPr id="26" name="Oval 25"/>
          <p:cNvSpPr/>
          <p:nvPr/>
        </p:nvSpPr>
        <p:spPr>
          <a:xfrm>
            <a:off x="1335024" y="4133088"/>
            <a:ext cx="347472" cy="347472"/>
          </a:xfrm>
          <a:prstGeom prst="ellipse">
            <a:avLst/>
          </a:prstGeom>
          <a:solidFill>
            <a:srgbClr val="1FA3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335024" y="4133088"/>
            <a:ext cx="347472" cy="347472"/>
          </a:xfrm>
          <a:prstGeom prst="rect">
            <a:avLst/>
          </a:prstGeom>
          <a:noFill/>
        </p:spPr>
        <p:txBody>
          <a:bodyPr wrap="square" lIns="0" rIns="0" tIns="0" bIns="0" anchor="ctr">
            <a:spAutoFit/>
          </a:bodyPr>
          <a:lstStyle/>
          <a:p>
            <a:pPr algn="ctr"/>
            <a:r>
              <a:rPr sz="1200" b="1" i="0">
                <a:solidFill>
                  <a:srgbClr val="FFFFFF"/>
                </a:solidFill>
                <a:latin typeface="Calibri"/>
              </a:rPr>
              <a:t>10</a:t>
            </a:r>
          </a:p>
        </p:txBody>
      </p:sp>
      <p:sp>
        <p:nvSpPr>
          <p:cNvPr id="28" name="Oval 27"/>
          <p:cNvSpPr/>
          <p:nvPr/>
        </p:nvSpPr>
        <p:spPr>
          <a:xfrm>
            <a:off x="1755648" y="4133088"/>
            <a:ext cx="347472" cy="347472"/>
          </a:xfrm>
          <a:prstGeom prst="ellipse">
            <a:avLst/>
          </a:prstGeom>
          <a:solidFill>
            <a:srgbClr val="1FA3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755648" y="4133088"/>
            <a:ext cx="347472" cy="347472"/>
          </a:xfrm>
          <a:prstGeom prst="rect">
            <a:avLst/>
          </a:prstGeom>
          <a:noFill/>
        </p:spPr>
        <p:txBody>
          <a:bodyPr wrap="square" lIns="0" rIns="0" tIns="0" bIns="0" anchor="ctr">
            <a:spAutoFit/>
          </a:bodyPr>
          <a:lstStyle/>
          <a:p>
            <a:pPr algn="ctr"/>
            <a:r>
              <a:rPr sz="1200" b="1" i="0">
                <a:solidFill>
                  <a:srgbClr val="FFFFFF"/>
                </a:solidFill>
                <a:latin typeface="Calibri"/>
              </a:rPr>
              <a:t>11</a:t>
            </a:r>
          </a:p>
        </p:txBody>
      </p:sp>
      <p:sp>
        <p:nvSpPr>
          <p:cNvPr id="30" name="Oval 29"/>
          <p:cNvSpPr/>
          <p:nvPr/>
        </p:nvSpPr>
        <p:spPr>
          <a:xfrm>
            <a:off x="2176272" y="4133088"/>
            <a:ext cx="347472" cy="347472"/>
          </a:xfrm>
          <a:prstGeom prst="ellipse">
            <a:avLst/>
          </a:prstGeom>
          <a:solidFill>
            <a:srgbClr val="1FA3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2176272" y="4133088"/>
            <a:ext cx="347472" cy="347472"/>
          </a:xfrm>
          <a:prstGeom prst="rect">
            <a:avLst/>
          </a:prstGeom>
          <a:noFill/>
        </p:spPr>
        <p:txBody>
          <a:bodyPr wrap="square" lIns="0" rIns="0" tIns="0" bIns="0" anchor="ctr">
            <a:spAutoFit/>
          </a:bodyPr>
          <a:lstStyle/>
          <a:p>
            <a:pPr algn="ctr"/>
            <a:r>
              <a:rPr sz="1200" b="1" i="0">
                <a:solidFill>
                  <a:srgbClr val="FFFFFF"/>
                </a:solidFill>
                <a:latin typeface="Calibri"/>
              </a:rPr>
              <a:t>12</a:t>
            </a:r>
          </a:p>
        </p:txBody>
      </p:sp>
      <p:sp>
        <p:nvSpPr>
          <p:cNvPr id="32" name="TextBox 31"/>
          <p:cNvSpPr txBox="1"/>
          <p:nvPr/>
        </p:nvSpPr>
        <p:spPr>
          <a:xfrm>
            <a:off x="2697480" y="3291840"/>
            <a:ext cx="1097280" cy="365760"/>
          </a:xfrm>
          <a:prstGeom prst="rect">
            <a:avLst/>
          </a:prstGeom>
          <a:noFill/>
        </p:spPr>
        <p:txBody>
          <a:bodyPr wrap="square" lIns="0" rIns="0" tIns="0" bIns="0" anchor="ctr">
            <a:spAutoFit/>
          </a:bodyPr>
          <a:lstStyle/>
          <a:p>
            <a:pPr algn="l"/>
            <a:r>
              <a:rPr sz="1600" b="1" i="0">
                <a:solidFill>
                  <a:srgbClr val="F28C28"/>
                </a:solidFill>
                <a:latin typeface="Calibri"/>
              </a:rPr>
              <a:t>Anna</a:t>
            </a:r>
          </a:p>
        </p:txBody>
      </p:sp>
      <p:sp>
        <p:nvSpPr>
          <p:cNvPr id="33" name="TextBox 32"/>
          <p:cNvSpPr txBox="1"/>
          <p:nvPr/>
        </p:nvSpPr>
        <p:spPr>
          <a:xfrm>
            <a:off x="2697480" y="3767328"/>
            <a:ext cx="1097280" cy="731520"/>
          </a:xfrm>
          <a:prstGeom prst="rect">
            <a:avLst/>
          </a:prstGeom>
          <a:noFill/>
        </p:spPr>
        <p:txBody>
          <a:bodyPr wrap="square" lIns="0" rIns="0" tIns="0" bIns="0" anchor="ctr">
            <a:spAutoFit/>
          </a:bodyPr>
          <a:lstStyle/>
          <a:p>
            <a:pPr algn="l"/>
            <a:r>
              <a:rPr sz="1600" b="1" i="0">
                <a:solidFill>
                  <a:srgbClr val="1FA37A"/>
                </a:solidFill>
                <a:latin typeface="Calibri"/>
              </a:rPr>
              <a:t>Tom</a:t>
            </a:r>
          </a:p>
        </p:txBody>
      </p:sp>
      <p:sp>
        <p:nvSpPr>
          <p:cNvPr id="34" name="TextBox 33"/>
          <p:cNvSpPr txBox="1"/>
          <p:nvPr/>
        </p:nvSpPr>
        <p:spPr>
          <a:xfrm>
            <a:off x="914400" y="4617720"/>
            <a:ext cx="2834640" cy="731520"/>
          </a:xfrm>
          <a:prstGeom prst="rect">
            <a:avLst/>
          </a:prstGeom>
          <a:noFill/>
        </p:spPr>
        <p:txBody>
          <a:bodyPr wrap="square" lIns="0" rIns="0" tIns="0" bIns="0" anchor="t">
            <a:spAutoFit/>
          </a:bodyPr>
          <a:lstStyle/>
          <a:p>
            <a:pPr algn="l"/>
            <a:r>
              <a:rPr sz="1500" b="0" i="0">
                <a:solidFill>
                  <a:srgbClr val="1F2937"/>
                </a:solidFill>
                <a:latin typeface="Calibri"/>
              </a:rPr>
              <a:t>Put out 12 counters.</a:t>
            </a:r>
          </a:p>
          <a:p>
            <a:pPr algn="l"/>
            <a:r>
              <a:rPr sz="1500" b="0" i="0">
                <a:solidFill>
                  <a:srgbClr val="1F2937"/>
                </a:solidFill>
                <a:latin typeface="Calibri"/>
              </a:rPr>
              <a:t>Make 3 equal groups of 4.</a:t>
            </a:r>
          </a:p>
          <a:p>
            <a:pPr algn="l"/>
            <a:r>
              <a:rPr sz="1500" b="0" i="0">
                <a:solidFill>
                  <a:srgbClr val="1F2937"/>
                </a:solidFill>
                <a:latin typeface="Calibri"/>
              </a:rPr>
              <a:t>One group is 1/3.</a:t>
            </a:r>
          </a:p>
        </p:txBody>
      </p:sp>
      <p:sp>
        <p:nvSpPr>
          <p:cNvPr id="35" name="Right Arrow 34"/>
          <p:cNvSpPr/>
          <p:nvPr/>
        </p:nvSpPr>
        <p:spPr>
          <a:xfrm>
            <a:off x="4069080" y="3520440"/>
            <a:ext cx="365760" cy="365760"/>
          </a:xfrm>
          <a:prstGeom prst="rightArrow">
            <a:avLst/>
          </a:prstGeom>
          <a:solidFill>
            <a:srgbClr val="F28C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ounded Rectangle 35"/>
          <p:cNvSpPr/>
          <p:nvPr/>
        </p:nvSpPr>
        <p:spPr>
          <a:xfrm>
            <a:off x="4480560" y="2240280"/>
            <a:ext cx="3383280" cy="3108960"/>
          </a:xfrm>
          <a:prstGeom prst="roundRect">
            <a:avLst>
              <a:gd name="adj" fmla="val 3529"/>
            </a:avLst>
          </a:prstGeom>
          <a:solidFill>
            <a:srgbClr val="EAF1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4754880" y="2377440"/>
            <a:ext cx="2834640" cy="457200"/>
          </a:xfrm>
          <a:prstGeom prst="rect">
            <a:avLst/>
          </a:prstGeom>
          <a:noFill/>
        </p:spPr>
        <p:txBody>
          <a:bodyPr wrap="square" lIns="0" rIns="0" tIns="0" bIns="0" anchor="t">
            <a:spAutoFit/>
          </a:bodyPr>
          <a:lstStyle/>
          <a:p>
            <a:pPr algn="l"/>
            <a:r>
              <a:rPr sz="2400" b="1" i="0">
                <a:solidFill>
                  <a:srgbClr val="1FA37A"/>
                </a:solidFill>
                <a:latin typeface="Calibri"/>
              </a:rPr>
              <a:t>2 · Draw it</a:t>
            </a:r>
          </a:p>
        </p:txBody>
      </p:sp>
      <p:sp>
        <p:nvSpPr>
          <p:cNvPr id="38" name="TextBox 37"/>
          <p:cNvSpPr txBox="1"/>
          <p:nvPr/>
        </p:nvSpPr>
        <p:spPr>
          <a:xfrm>
            <a:off x="4754880" y="2834640"/>
            <a:ext cx="2834640" cy="320040"/>
          </a:xfrm>
          <a:prstGeom prst="rect">
            <a:avLst/>
          </a:prstGeom>
          <a:noFill/>
        </p:spPr>
        <p:txBody>
          <a:bodyPr wrap="square" lIns="0" rIns="0" tIns="0" bIns="0" anchor="t">
            <a:spAutoFit/>
          </a:bodyPr>
          <a:lstStyle/>
          <a:p>
            <a:pPr algn="l"/>
            <a:r>
              <a:rPr sz="1600" b="0" i="0">
                <a:solidFill>
                  <a:srgbClr val="5B6472"/>
                </a:solidFill>
                <a:latin typeface="Calibri"/>
              </a:rPr>
              <a:t>Pictorial</a:t>
            </a:r>
          </a:p>
        </p:txBody>
      </p:sp>
      <p:sp>
        <p:nvSpPr>
          <p:cNvPr id="39" name="Rounded Rectangle 38"/>
          <p:cNvSpPr/>
          <p:nvPr/>
        </p:nvSpPr>
        <p:spPr>
          <a:xfrm>
            <a:off x="4754880" y="3429000"/>
            <a:ext cx="914400" cy="731520"/>
          </a:xfrm>
          <a:prstGeom prst="roundRect">
            <a:avLst>
              <a:gd name="adj" fmla="val 7500"/>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4754880" y="3429000"/>
            <a:ext cx="914400" cy="731520"/>
          </a:xfrm>
          <a:prstGeom prst="rect">
            <a:avLst/>
          </a:prstGeom>
          <a:noFill/>
        </p:spPr>
        <p:txBody>
          <a:bodyPr wrap="square" lIns="0" rIns="0" tIns="0" bIns="0" anchor="ctr">
            <a:spAutoFit/>
          </a:bodyPr>
          <a:lstStyle/>
          <a:p>
            <a:pPr algn="ctr"/>
            <a:r>
              <a:rPr sz="2600" b="1" i="0">
                <a:solidFill>
                  <a:srgbClr val="FFFFFF"/>
                </a:solidFill>
                <a:latin typeface="Calibri"/>
              </a:rPr>
              <a:t>4</a:t>
            </a:r>
          </a:p>
        </p:txBody>
      </p:sp>
      <p:sp>
        <p:nvSpPr>
          <p:cNvPr id="41" name="Rounded Rectangle 40"/>
          <p:cNvSpPr/>
          <p:nvPr/>
        </p:nvSpPr>
        <p:spPr>
          <a:xfrm>
            <a:off x="5696712" y="3429000"/>
            <a:ext cx="914400" cy="731520"/>
          </a:xfrm>
          <a:prstGeom prst="roundRect">
            <a:avLst>
              <a:gd name="adj" fmla="val 7500"/>
            </a:avLst>
          </a:prstGeom>
          <a:solidFill>
            <a:srgbClr val="1FA3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5696712" y="3429000"/>
            <a:ext cx="914400" cy="731520"/>
          </a:xfrm>
          <a:prstGeom prst="rect">
            <a:avLst/>
          </a:prstGeom>
          <a:noFill/>
        </p:spPr>
        <p:txBody>
          <a:bodyPr wrap="square" lIns="0" rIns="0" tIns="0" bIns="0" anchor="ctr">
            <a:spAutoFit/>
          </a:bodyPr>
          <a:lstStyle/>
          <a:p>
            <a:pPr algn="ctr"/>
            <a:r>
              <a:rPr sz="2600" b="1" i="0">
                <a:solidFill>
                  <a:srgbClr val="FFFFFF"/>
                </a:solidFill>
                <a:latin typeface="Calibri"/>
              </a:rPr>
              <a:t>4</a:t>
            </a:r>
          </a:p>
        </p:txBody>
      </p:sp>
      <p:sp>
        <p:nvSpPr>
          <p:cNvPr id="43" name="Rounded Rectangle 42"/>
          <p:cNvSpPr/>
          <p:nvPr/>
        </p:nvSpPr>
        <p:spPr>
          <a:xfrm>
            <a:off x="6638544" y="3429000"/>
            <a:ext cx="914400" cy="731520"/>
          </a:xfrm>
          <a:prstGeom prst="roundRect">
            <a:avLst>
              <a:gd name="adj" fmla="val 7500"/>
            </a:avLst>
          </a:prstGeom>
          <a:solidFill>
            <a:srgbClr val="1FA3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638544" y="3429000"/>
            <a:ext cx="914400" cy="731520"/>
          </a:xfrm>
          <a:prstGeom prst="rect">
            <a:avLst/>
          </a:prstGeom>
          <a:noFill/>
        </p:spPr>
        <p:txBody>
          <a:bodyPr wrap="square" lIns="0" rIns="0" tIns="0" bIns="0" anchor="ctr">
            <a:spAutoFit/>
          </a:bodyPr>
          <a:lstStyle/>
          <a:p>
            <a:pPr algn="ctr"/>
            <a:r>
              <a:rPr sz="2600" b="1" i="0">
                <a:solidFill>
                  <a:srgbClr val="FFFFFF"/>
                </a:solidFill>
                <a:latin typeface="Calibri"/>
              </a:rPr>
              <a:t>4</a:t>
            </a:r>
          </a:p>
        </p:txBody>
      </p:sp>
      <p:sp>
        <p:nvSpPr>
          <p:cNvPr id="45" name="TextBox 44"/>
          <p:cNvSpPr txBox="1"/>
          <p:nvPr/>
        </p:nvSpPr>
        <p:spPr>
          <a:xfrm>
            <a:off x="4754880" y="4206240"/>
            <a:ext cx="2834640" cy="320040"/>
          </a:xfrm>
          <a:prstGeom prst="rect">
            <a:avLst/>
          </a:prstGeom>
          <a:noFill/>
        </p:spPr>
        <p:txBody>
          <a:bodyPr wrap="square" lIns="0" rIns="0" tIns="0" bIns="0" anchor="t">
            <a:spAutoFit/>
          </a:bodyPr>
          <a:lstStyle/>
          <a:p>
            <a:pPr algn="ctr"/>
            <a:r>
              <a:rPr sz="1600" b="1" i="0">
                <a:solidFill>
                  <a:srgbClr val="5B6472"/>
                </a:solidFill>
                <a:latin typeface="Calibri"/>
              </a:rPr>
              <a:t>12</a:t>
            </a:r>
          </a:p>
        </p:txBody>
      </p:sp>
      <p:sp>
        <p:nvSpPr>
          <p:cNvPr id="46" name="TextBox 45"/>
          <p:cNvSpPr txBox="1"/>
          <p:nvPr/>
        </p:nvSpPr>
        <p:spPr>
          <a:xfrm>
            <a:off x="4754880" y="4617720"/>
            <a:ext cx="2834640" cy="731520"/>
          </a:xfrm>
          <a:prstGeom prst="rect">
            <a:avLst/>
          </a:prstGeom>
          <a:noFill/>
        </p:spPr>
        <p:txBody>
          <a:bodyPr wrap="square" lIns="0" rIns="0" tIns="0" bIns="0" anchor="t">
            <a:spAutoFit/>
          </a:bodyPr>
          <a:lstStyle/>
          <a:p>
            <a:pPr algn="l"/>
            <a:r>
              <a:rPr sz="1500" b="0" i="0">
                <a:solidFill>
                  <a:srgbClr val="1F2937"/>
                </a:solidFill>
                <a:latin typeface="Calibri"/>
              </a:rPr>
              <a:t>Draw one bar for 12.</a:t>
            </a:r>
          </a:p>
          <a:p>
            <a:pPr algn="l"/>
            <a:r>
              <a:rPr sz="1500" b="0" i="0">
                <a:solidFill>
                  <a:srgbClr val="1F2937"/>
                </a:solidFill>
                <a:latin typeface="Calibri"/>
              </a:rPr>
              <a:t>Cut it into 3 equal parts.</a:t>
            </a:r>
          </a:p>
          <a:p>
            <a:pPr algn="l"/>
            <a:r>
              <a:rPr sz="1500" b="0" i="0">
                <a:solidFill>
                  <a:srgbClr val="1F2937"/>
                </a:solidFill>
                <a:latin typeface="Calibri"/>
              </a:rPr>
              <a:t>Each part is 4.</a:t>
            </a:r>
          </a:p>
        </p:txBody>
      </p:sp>
      <p:sp>
        <p:nvSpPr>
          <p:cNvPr id="47" name="Right Arrow 46"/>
          <p:cNvSpPr/>
          <p:nvPr/>
        </p:nvSpPr>
        <p:spPr>
          <a:xfrm>
            <a:off x="7909560" y="3520440"/>
            <a:ext cx="365760" cy="365760"/>
          </a:xfrm>
          <a:prstGeom prst="rightArrow">
            <a:avLst/>
          </a:prstGeom>
          <a:solidFill>
            <a:srgbClr val="F28C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ounded Rectangle 47"/>
          <p:cNvSpPr/>
          <p:nvPr/>
        </p:nvSpPr>
        <p:spPr>
          <a:xfrm>
            <a:off x="8321040" y="2240280"/>
            <a:ext cx="3383280" cy="3108960"/>
          </a:xfrm>
          <a:prstGeom prst="roundRect">
            <a:avLst>
              <a:gd name="adj" fmla="val 3529"/>
            </a:avLst>
          </a:prstGeom>
          <a:solidFill>
            <a:srgbClr val="EAF1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8595360" y="2377440"/>
            <a:ext cx="2834640" cy="457200"/>
          </a:xfrm>
          <a:prstGeom prst="rect">
            <a:avLst/>
          </a:prstGeom>
          <a:noFill/>
        </p:spPr>
        <p:txBody>
          <a:bodyPr wrap="square" lIns="0" rIns="0" tIns="0" bIns="0" anchor="t">
            <a:spAutoFit/>
          </a:bodyPr>
          <a:lstStyle/>
          <a:p>
            <a:pPr algn="l"/>
            <a:r>
              <a:rPr sz="2400" b="1" i="0">
                <a:solidFill>
                  <a:srgbClr val="F28C28"/>
                </a:solidFill>
                <a:latin typeface="Calibri"/>
              </a:rPr>
              <a:t>3 · Write it</a:t>
            </a:r>
          </a:p>
        </p:txBody>
      </p:sp>
      <p:sp>
        <p:nvSpPr>
          <p:cNvPr id="50" name="TextBox 49"/>
          <p:cNvSpPr txBox="1"/>
          <p:nvPr/>
        </p:nvSpPr>
        <p:spPr>
          <a:xfrm>
            <a:off x="8595360" y="2834640"/>
            <a:ext cx="2834640" cy="320040"/>
          </a:xfrm>
          <a:prstGeom prst="rect">
            <a:avLst/>
          </a:prstGeom>
          <a:noFill/>
        </p:spPr>
        <p:txBody>
          <a:bodyPr wrap="square" lIns="0" rIns="0" tIns="0" bIns="0" anchor="t">
            <a:spAutoFit/>
          </a:bodyPr>
          <a:lstStyle/>
          <a:p>
            <a:pPr algn="l"/>
            <a:r>
              <a:rPr sz="1600" b="0" i="0">
                <a:solidFill>
                  <a:srgbClr val="5B6472"/>
                </a:solidFill>
                <a:latin typeface="Calibri"/>
              </a:rPr>
              <a:t>Abstract</a:t>
            </a:r>
          </a:p>
        </p:txBody>
      </p:sp>
      <p:sp>
        <p:nvSpPr>
          <p:cNvPr id="51" name="TextBox 50"/>
          <p:cNvSpPr txBox="1"/>
          <p:nvPr/>
        </p:nvSpPr>
        <p:spPr>
          <a:xfrm>
            <a:off x="8595360" y="3383280"/>
            <a:ext cx="2834640" cy="548640"/>
          </a:xfrm>
          <a:prstGeom prst="rect">
            <a:avLst/>
          </a:prstGeom>
          <a:noFill/>
        </p:spPr>
        <p:txBody>
          <a:bodyPr wrap="square" lIns="0" rIns="0" tIns="0" bIns="0" anchor="ctr">
            <a:spAutoFit/>
          </a:bodyPr>
          <a:lstStyle/>
          <a:p>
            <a:pPr algn="ctr"/>
            <a:r>
              <a:rPr sz="3000" b="1" i="0">
                <a:solidFill>
                  <a:srgbClr val="F28C28"/>
                </a:solidFill>
                <a:latin typeface="Calibri"/>
              </a:rPr>
              <a:t>12 ÷ 3 = 4</a:t>
            </a:r>
          </a:p>
        </p:txBody>
      </p:sp>
      <p:sp>
        <p:nvSpPr>
          <p:cNvPr id="52" name="TextBox 51"/>
          <p:cNvSpPr txBox="1"/>
          <p:nvPr/>
        </p:nvSpPr>
        <p:spPr>
          <a:xfrm>
            <a:off x="8595360" y="3931920"/>
            <a:ext cx="2834640" cy="548640"/>
          </a:xfrm>
          <a:prstGeom prst="rect">
            <a:avLst/>
          </a:prstGeom>
          <a:noFill/>
        </p:spPr>
        <p:txBody>
          <a:bodyPr wrap="square" lIns="0" rIns="0" tIns="0" bIns="0" anchor="ctr">
            <a:spAutoFit/>
          </a:bodyPr>
          <a:lstStyle/>
          <a:p>
            <a:pPr algn="ctr"/>
            <a:r>
              <a:rPr sz="3000" b="1" i="0">
                <a:solidFill>
                  <a:srgbClr val="F28C28"/>
                </a:solidFill>
                <a:latin typeface="Calibri"/>
              </a:rPr>
              <a:t>12 − 4 = 8</a:t>
            </a:r>
          </a:p>
        </p:txBody>
      </p:sp>
      <p:sp>
        <p:nvSpPr>
          <p:cNvPr id="53" name="TextBox 52"/>
          <p:cNvSpPr txBox="1"/>
          <p:nvPr/>
        </p:nvSpPr>
        <p:spPr>
          <a:xfrm>
            <a:off x="8595360" y="4617720"/>
            <a:ext cx="2834640" cy="731520"/>
          </a:xfrm>
          <a:prstGeom prst="rect">
            <a:avLst/>
          </a:prstGeom>
          <a:noFill/>
        </p:spPr>
        <p:txBody>
          <a:bodyPr wrap="square" lIns="0" rIns="0" tIns="0" bIns="0" anchor="t">
            <a:spAutoFit/>
          </a:bodyPr>
          <a:lstStyle/>
          <a:p>
            <a:pPr algn="l"/>
            <a:r>
              <a:rPr sz="1500" b="0" i="0">
                <a:solidFill>
                  <a:srgbClr val="1F2937"/>
                </a:solidFill>
                <a:latin typeface="Calibri"/>
              </a:rPr>
              <a:t>1/3 of 12 = 12 ÷ 3 = 4</a:t>
            </a:r>
          </a:p>
          <a:p>
            <a:pPr algn="l"/>
            <a:r>
              <a:rPr sz="1500" b="0" i="0">
                <a:solidFill>
                  <a:srgbClr val="1F2937"/>
                </a:solidFill>
                <a:latin typeface="Calibri"/>
              </a:rPr>
              <a:t>Tom has 12 − 4 = 8 left.</a:t>
            </a:r>
          </a:p>
        </p:txBody>
      </p:sp>
      <p:sp>
        <p:nvSpPr>
          <p:cNvPr id="54" name="Rounded Rectangle 53"/>
          <p:cNvSpPr/>
          <p:nvPr/>
        </p:nvSpPr>
        <p:spPr>
          <a:xfrm>
            <a:off x="640080" y="5577840"/>
            <a:ext cx="11064240" cy="731520"/>
          </a:xfrm>
          <a:prstGeom prst="roundRect">
            <a:avLst>
              <a:gd name="adj" fmla="val 15000"/>
            </a:avLst>
          </a:prstGeom>
          <a:solidFill>
            <a:srgbClr val="1B3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822960" y="5577840"/>
            <a:ext cx="10698480" cy="731520"/>
          </a:xfrm>
          <a:prstGeom prst="rect">
            <a:avLst/>
          </a:prstGeom>
          <a:noFill/>
        </p:spPr>
        <p:txBody>
          <a:bodyPr wrap="square" lIns="0" rIns="0" tIns="0" bIns="0" anchor="ctr">
            <a:spAutoFit/>
          </a:bodyPr>
          <a:lstStyle/>
          <a:p>
            <a:pPr algn="ctr"/>
            <a:r>
              <a:rPr sz="2000" b="1" i="0">
                <a:solidFill>
                  <a:srgbClr val="FFFFFF"/>
                </a:solidFill>
                <a:latin typeface="Calibri"/>
              </a:rPr>
              <a:t>Same topics as school · CE1 → CM1 · Singapore Math books · English words learned along the way</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365760"/>
            <a:ext cx="10881360" cy="822960"/>
          </a:xfrm>
          <a:prstGeom prst="rect">
            <a:avLst/>
          </a:prstGeom>
          <a:noFill/>
        </p:spPr>
        <p:txBody>
          <a:bodyPr wrap="square" lIns="0" rIns="0" tIns="0" bIns="0" anchor="ctr">
            <a:spAutoFit/>
          </a:bodyPr>
          <a:lstStyle/>
          <a:p>
            <a:pPr algn="l"/>
            <a:r>
              <a:rPr sz="4000" b="1" i="0">
                <a:solidFill>
                  <a:srgbClr val="1B3A8C"/>
                </a:solidFill>
                <a:latin typeface="Calibri"/>
              </a:rPr>
              <a:t>Maths: two ways to learn</a:t>
            </a:r>
          </a:p>
        </p:txBody>
      </p:sp>
      <p:sp>
        <p:nvSpPr>
          <p:cNvPr id="3" name="Rounded Rectangle 2"/>
          <p:cNvSpPr/>
          <p:nvPr/>
        </p:nvSpPr>
        <p:spPr>
          <a:xfrm>
            <a:off x="640080" y="1234440"/>
            <a:ext cx="11064240" cy="777240"/>
          </a:xfrm>
          <a:prstGeom prst="roundRect">
            <a:avLst>
              <a:gd name="adj" fmla="val 14117"/>
            </a:avLst>
          </a:prstGeom>
          <a:solidFill>
            <a:srgbClr val="1B3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234440"/>
            <a:ext cx="10515600" cy="777240"/>
          </a:xfrm>
          <a:prstGeom prst="rect">
            <a:avLst/>
          </a:prstGeom>
          <a:noFill/>
        </p:spPr>
        <p:txBody>
          <a:bodyPr wrap="square" lIns="0" rIns="0" tIns="0" bIns="0" anchor="ctr">
            <a:spAutoFit/>
          </a:bodyPr>
          <a:lstStyle/>
          <a:p>
            <a:pPr algn="l"/>
            <a:r>
              <a:rPr sz="2400" b="1" i="0">
                <a:solidFill>
                  <a:srgbClr val="FFFFFF"/>
                </a:solidFill>
                <a:latin typeface="Calibri"/>
              </a:rPr>
              <a:t>Tom has 12 sweets. He gives 1/3 of them to Anna. How many are left?</a:t>
            </a:r>
          </a:p>
        </p:txBody>
      </p:sp>
      <p:sp>
        <p:nvSpPr>
          <p:cNvPr id="5" name="Rounded Rectangle 4"/>
          <p:cNvSpPr/>
          <p:nvPr/>
        </p:nvSpPr>
        <p:spPr>
          <a:xfrm>
            <a:off x="640080" y="2194560"/>
            <a:ext cx="5394960" cy="3063240"/>
          </a:xfrm>
          <a:prstGeom prst="roundRect">
            <a:avLst>
              <a:gd name="adj" fmla="val 3582"/>
            </a:avLst>
          </a:prstGeom>
          <a:solidFill>
            <a:srgbClr val="EAF1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2331720"/>
            <a:ext cx="4663440" cy="502920"/>
          </a:xfrm>
          <a:prstGeom prst="rect">
            <a:avLst/>
          </a:prstGeom>
          <a:noFill/>
        </p:spPr>
        <p:txBody>
          <a:bodyPr wrap="square" lIns="0" rIns="0" tIns="0" bIns="0" anchor="t">
            <a:spAutoFit/>
          </a:bodyPr>
          <a:lstStyle/>
          <a:p>
            <a:pPr algn="l"/>
            <a:r>
              <a:rPr sz="2800" b="1" i="0">
                <a:solidFill>
                  <a:srgbClr val="F28C28"/>
                </a:solidFill>
                <a:latin typeface="Calibri"/>
              </a:rPr>
              <a:t>Memorising</a:t>
            </a:r>
          </a:p>
        </p:txBody>
      </p:sp>
      <p:sp>
        <p:nvSpPr>
          <p:cNvPr id="7" name="TextBox 6"/>
          <p:cNvSpPr txBox="1"/>
          <p:nvPr/>
        </p:nvSpPr>
        <p:spPr>
          <a:xfrm>
            <a:off x="1005840" y="2834640"/>
            <a:ext cx="4663440" cy="320040"/>
          </a:xfrm>
          <a:prstGeom prst="rect">
            <a:avLst/>
          </a:prstGeom>
          <a:noFill/>
        </p:spPr>
        <p:txBody>
          <a:bodyPr wrap="square" lIns="0" rIns="0" tIns="0" bIns="0" anchor="t">
            <a:spAutoFit/>
          </a:bodyPr>
          <a:lstStyle/>
          <a:p>
            <a:pPr algn="l"/>
            <a:r>
              <a:rPr sz="1600" b="0" i="0">
                <a:solidFill>
                  <a:srgbClr val="5B6472"/>
                </a:solidFill>
                <a:latin typeface="Calibri"/>
              </a:rPr>
              <a:t>copy the steps</a:t>
            </a:r>
          </a:p>
        </p:txBody>
      </p:sp>
      <p:sp>
        <p:nvSpPr>
          <p:cNvPr id="8" name="Rounded Rectangle 7"/>
          <p:cNvSpPr/>
          <p:nvPr/>
        </p:nvSpPr>
        <p:spPr>
          <a:xfrm>
            <a:off x="1005840" y="3246120"/>
            <a:ext cx="4663440" cy="1325880"/>
          </a:xfrm>
          <a:prstGeom prst="roundRect">
            <a:avLst>
              <a:gd name="adj" fmla="val 8275"/>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88720" y="3310128"/>
            <a:ext cx="4297680" cy="1234440"/>
          </a:xfrm>
          <a:prstGeom prst="rect">
            <a:avLst/>
          </a:prstGeom>
          <a:noFill/>
        </p:spPr>
        <p:txBody>
          <a:bodyPr wrap="square" lIns="0" rIns="0" tIns="0" bIns="0" anchor="ctr">
            <a:spAutoFit/>
          </a:bodyPr>
          <a:lstStyle/>
          <a:p>
            <a:pPr algn="l"/>
            <a:r>
              <a:rPr sz="2000" b="1" i="0">
                <a:solidFill>
                  <a:srgbClr val="1F2937"/>
                </a:solidFill>
                <a:latin typeface="Calibri"/>
              </a:rPr>
              <a:t>1   See "gives" → subtract</a:t>
            </a:r>
          </a:p>
          <a:p>
            <a:pPr algn="l"/>
            <a:r>
              <a:rPr sz="2000" b="1" i="0">
                <a:solidFill>
                  <a:srgbClr val="1F2937"/>
                </a:solidFill>
                <a:latin typeface="Calibri"/>
              </a:rPr>
              <a:t>2   Write  12 − 1/3 × 12</a:t>
            </a:r>
          </a:p>
          <a:p>
            <a:pPr algn="l"/>
            <a:r>
              <a:rPr sz="2000" b="1" i="0">
                <a:solidFill>
                  <a:srgbClr val="1F2937"/>
                </a:solidFill>
                <a:latin typeface="Calibri"/>
              </a:rPr>
              <a:t>3   Calculate  12 − 4 = 8</a:t>
            </a:r>
          </a:p>
        </p:txBody>
      </p:sp>
      <p:sp>
        <p:nvSpPr>
          <p:cNvPr id="10" name="TextBox 9"/>
          <p:cNvSpPr txBox="1"/>
          <p:nvPr/>
        </p:nvSpPr>
        <p:spPr>
          <a:xfrm>
            <a:off x="1005840" y="4663440"/>
            <a:ext cx="4663440" cy="502920"/>
          </a:xfrm>
          <a:prstGeom prst="rect">
            <a:avLst/>
          </a:prstGeom>
          <a:noFill/>
        </p:spPr>
        <p:txBody>
          <a:bodyPr wrap="square" lIns="0" rIns="0" tIns="0" bIns="0" anchor="t">
            <a:spAutoFit/>
          </a:bodyPr>
          <a:lstStyle/>
          <a:p>
            <a:pPr algn="l"/>
            <a:r>
              <a:rPr sz="1600" b="0" i="1">
                <a:solidFill>
                  <a:srgbClr val="5B6472"/>
                </a:solidFill>
                <a:latin typeface="Calibri"/>
              </a:rPr>
              <a:t>Right answer, but the child only copied the steps.</a:t>
            </a:r>
          </a:p>
        </p:txBody>
      </p:sp>
      <p:sp>
        <p:nvSpPr>
          <p:cNvPr id="11" name="Rounded Rectangle 10"/>
          <p:cNvSpPr/>
          <p:nvPr/>
        </p:nvSpPr>
        <p:spPr>
          <a:xfrm>
            <a:off x="6309360" y="2194560"/>
            <a:ext cx="5394960" cy="3063240"/>
          </a:xfrm>
          <a:prstGeom prst="roundRect">
            <a:avLst>
              <a:gd name="adj" fmla="val 3582"/>
            </a:avLst>
          </a:prstGeom>
          <a:solidFill>
            <a:srgbClr val="EAF1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675120" y="2331720"/>
            <a:ext cx="4663440" cy="502920"/>
          </a:xfrm>
          <a:prstGeom prst="rect">
            <a:avLst/>
          </a:prstGeom>
          <a:noFill/>
        </p:spPr>
        <p:txBody>
          <a:bodyPr wrap="square" lIns="0" rIns="0" tIns="0" bIns="0" anchor="t">
            <a:spAutoFit/>
          </a:bodyPr>
          <a:lstStyle/>
          <a:p>
            <a:pPr algn="l"/>
            <a:r>
              <a:rPr sz="2800" b="1" i="0">
                <a:solidFill>
                  <a:srgbClr val="1FA37A"/>
                </a:solidFill>
                <a:latin typeface="Calibri"/>
              </a:rPr>
              <a:t>With a method</a:t>
            </a:r>
          </a:p>
        </p:txBody>
      </p:sp>
      <p:sp>
        <p:nvSpPr>
          <p:cNvPr id="13" name="TextBox 12"/>
          <p:cNvSpPr txBox="1"/>
          <p:nvPr/>
        </p:nvSpPr>
        <p:spPr>
          <a:xfrm>
            <a:off x="6675120" y="2834640"/>
            <a:ext cx="4663440" cy="320040"/>
          </a:xfrm>
          <a:prstGeom prst="rect">
            <a:avLst/>
          </a:prstGeom>
          <a:noFill/>
        </p:spPr>
        <p:txBody>
          <a:bodyPr wrap="square" lIns="0" rIns="0" tIns="0" bIns="0" anchor="t">
            <a:spAutoFit/>
          </a:bodyPr>
          <a:lstStyle/>
          <a:p>
            <a:pPr algn="l"/>
            <a:r>
              <a:rPr sz="1600" b="0" i="0">
                <a:solidFill>
                  <a:srgbClr val="5B6472"/>
                </a:solidFill>
                <a:latin typeface="Calibri"/>
              </a:rPr>
              <a:t>see the problem</a:t>
            </a:r>
          </a:p>
        </p:txBody>
      </p:sp>
      <p:sp>
        <p:nvSpPr>
          <p:cNvPr id="14" name="Oval 13"/>
          <p:cNvSpPr/>
          <p:nvPr/>
        </p:nvSpPr>
        <p:spPr>
          <a:xfrm>
            <a:off x="6675120" y="3337560"/>
            <a:ext cx="310896" cy="310896"/>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675120" y="3337560"/>
            <a:ext cx="310896" cy="310896"/>
          </a:xfrm>
          <a:prstGeom prst="rect">
            <a:avLst/>
          </a:prstGeom>
          <a:noFill/>
        </p:spPr>
        <p:txBody>
          <a:bodyPr wrap="square" lIns="0" rIns="0" tIns="0" bIns="0" anchor="ctr">
            <a:spAutoFit/>
          </a:bodyPr>
          <a:lstStyle/>
          <a:p>
            <a:pPr algn="ctr"/>
            <a:r>
              <a:rPr sz="1200" b="1" i="0">
                <a:solidFill>
                  <a:srgbClr val="FFFFFF"/>
                </a:solidFill>
                <a:latin typeface="Calibri"/>
              </a:rPr>
              <a:t>1</a:t>
            </a:r>
          </a:p>
        </p:txBody>
      </p:sp>
      <p:sp>
        <p:nvSpPr>
          <p:cNvPr id="16" name="Oval 15"/>
          <p:cNvSpPr/>
          <p:nvPr/>
        </p:nvSpPr>
        <p:spPr>
          <a:xfrm>
            <a:off x="7050024" y="3337560"/>
            <a:ext cx="310896" cy="310896"/>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050024" y="3337560"/>
            <a:ext cx="310896" cy="310896"/>
          </a:xfrm>
          <a:prstGeom prst="rect">
            <a:avLst/>
          </a:prstGeom>
          <a:noFill/>
        </p:spPr>
        <p:txBody>
          <a:bodyPr wrap="square" lIns="0" rIns="0" tIns="0" bIns="0" anchor="ctr">
            <a:spAutoFit/>
          </a:bodyPr>
          <a:lstStyle/>
          <a:p>
            <a:pPr algn="ctr"/>
            <a:r>
              <a:rPr sz="1200" b="1" i="0">
                <a:solidFill>
                  <a:srgbClr val="FFFFFF"/>
                </a:solidFill>
                <a:latin typeface="Calibri"/>
              </a:rPr>
              <a:t>2</a:t>
            </a:r>
          </a:p>
        </p:txBody>
      </p:sp>
      <p:sp>
        <p:nvSpPr>
          <p:cNvPr id="18" name="Oval 17"/>
          <p:cNvSpPr/>
          <p:nvPr/>
        </p:nvSpPr>
        <p:spPr>
          <a:xfrm>
            <a:off x="7424927" y="3337560"/>
            <a:ext cx="310896" cy="310896"/>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24927" y="3337560"/>
            <a:ext cx="310896" cy="310896"/>
          </a:xfrm>
          <a:prstGeom prst="rect">
            <a:avLst/>
          </a:prstGeom>
          <a:noFill/>
        </p:spPr>
        <p:txBody>
          <a:bodyPr wrap="square" lIns="0" rIns="0" tIns="0" bIns="0" anchor="ctr">
            <a:spAutoFit/>
          </a:bodyPr>
          <a:lstStyle/>
          <a:p>
            <a:pPr algn="ctr"/>
            <a:r>
              <a:rPr sz="1200" b="1" i="0">
                <a:solidFill>
                  <a:srgbClr val="FFFFFF"/>
                </a:solidFill>
                <a:latin typeface="Calibri"/>
              </a:rPr>
              <a:t>3</a:t>
            </a:r>
          </a:p>
        </p:txBody>
      </p:sp>
      <p:sp>
        <p:nvSpPr>
          <p:cNvPr id="20" name="Oval 19"/>
          <p:cNvSpPr/>
          <p:nvPr/>
        </p:nvSpPr>
        <p:spPr>
          <a:xfrm>
            <a:off x="7799831" y="3337560"/>
            <a:ext cx="310896" cy="310896"/>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799831" y="3337560"/>
            <a:ext cx="310896" cy="310896"/>
          </a:xfrm>
          <a:prstGeom prst="rect">
            <a:avLst/>
          </a:prstGeom>
          <a:noFill/>
        </p:spPr>
        <p:txBody>
          <a:bodyPr wrap="square" lIns="0" rIns="0" tIns="0" bIns="0" anchor="ctr">
            <a:spAutoFit/>
          </a:bodyPr>
          <a:lstStyle/>
          <a:p>
            <a:pPr algn="ctr"/>
            <a:r>
              <a:rPr sz="1200" b="1" i="0">
                <a:solidFill>
                  <a:srgbClr val="FFFFFF"/>
                </a:solidFill>
                <a:latin typeface="Calibri"/>
              </a:rPr>
              <a:t>4</a:t>
            </a:r>
          </a:p>
        </p:txBody>
      </p:sp>
      <p:sp>
        <p:nvSpPr>
          <p:cNvPr id="22" name="Oval 21"/>
          <p:cNvSpPr/>
          <p:nvPr/>
        </p:nvSpPr>
        <p:spPr>
          <a:xfrm>
            <a:off x="8247888" y="3337560"/>
            <a:ext cx="310896" cy="310896"/>
          </a:xfrm>
          <a:prstGeom prst="ellipse">
            <a:avLst/>
          </a:prstGeom>
          <a:solidFill>
            <a:srgbClr val="1FA3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247888" y="3337560"/>
            <a:ext cx="310896" cy="310896"/>
          </a:xfrm>
          <a:prstGeom prst="rect">
            <a:avLst/>
          </a:prstGeom>
          <a:noFill/>
        </p:spPr>
        <p:txBody>
          <a:bodyPr wrap="square" lIns="0" rIns="0" tIns="0" bIns="0" anchor="ctr">
            <a:spAutoFit/>
          </a:bodyPr>
          <a:lstStyle/>
          <a:p>
            <a:pPr algn="ctr"/>
            <a:r>
              <a:rPr sz="1200" b="1" i="0">
                <a:solidFill>
                  <a:srgbClr val="FFFFFF"/>
                </a:solidFill>
                <a:latin typeface="Calibri"/>
              </a:rPr>
              <a:t>5</a:t>
            </a:r>
          </a:p>
        </p:txBody>
      </p:sp>
      <p:sp>
        <p:nvSpPr>
          <p:cNvPr id="24" name="Oval 23"/>
          <p:cNvSpPr/>
          <p:nvPr/>
        </p:nvSpPr>
        <p:spPr>
          <a:xfrm>
            <a:off x="8622792" y="3337560"/>
            <a:ext cx="310896" cy="310896"/>
          </a:xfrm>
          <a:prstGeom prst="ellipse">
            <a:avLst/>
          </a:prstGeom>
          <a:solidFill>
            <a:srgbClr val="1FA3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622792" y="3337560"/>
            <a:ext cx="310896" cy="310896"/>
          </a:xfrm>
          <a:prstGeom prst="rect">
            <a:avLst/>
          </a:prstGeom>
          <a:noFill/>
        </p:spPr>
        <p:txBody>
          <a:bodyPr wrap="square" lIns="0" rIns="0" tIns="0" bIns="0" anchor="ctr">
            <a:spAutoFit/>
          </a:bodyPr>
          <a:lstStyle/>
          <a:p>
            <a:pPr algn="ctr"/>
            <a:r>
              <a:rPr sz="1200" b="1" i="0">
                <a:solidFill>
                  <a:srgbClr val="FFFFFF"/>
                </a:solidFill>
                <a:latin typeface="Calibri"/>
              </a:rPr>
              <a:t>6</a:t>
            </a:r>
          </a:p>
        </p:txBody>
      </p:sp>
      <p:sp>
        <p:nvSpPr>
          <p:cNvPr id="26" name="Oval 25"/>
          <p:cNvSpPr/>
          <p:nvPr/>
        </p:nvSpPr>
        <p:spPr>
          <a:xfrm>
            <a:off x="8997696" y="3337560"/>
            <a:ext cx="310896" cy="310896"/>
          </a:xfrm>
          <a:prstGeom prst="ellipse">
            <a:avLst/>
          </a:prstGeom>
          <a:solidFill>
            <a:srgbClr val="1FA3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997696" y="3337560"/>
            <a:ext cx="310896" cy="310896"/>
          </a:xfrm>
          <a:prstGeom prst="rect">
            <a:avLst/>
          </a:prstGeom>
          <a:noFill/>
        </p:spPr>
        <p:txBody>
          <a:bodyPr wrap="square" lIns="0" rIns="0" tIns="0" bIns="0" anchor="ctr">
            <a:spAutoFit/>
          </a:bodyPr>
          <a:lstStyle/>
          <a:p>
            <a:pPr algn="ctr"/>
            <a:r>
              <a:rPr sz="1200" b="1" i="0">
                <a:solidFill>
                  <a:srgbClr val="FFFFFF"/>
                </a:solidFill>
                <a:latin typeface="Calibri"/>
              </a:rPr>
              <a:t>7</a:t>
            </a:r>
          </a:p>
        </p:txBody>
      </p:sp>
      <p:sp>
        <p:nvSpPr>
          <p:cNvPr id="28" name="Oval 27"/>
          <p:cNvSpPr/>
          <p:nvPr/>
        </p:nvSpPr>
        <p:spPr>
          <a:xfrm>
            <a:off x="9372600" y="3337560"/>
            <a:ext cx="310896" cy="310896"/>
          </a:xfrm>
          <a:prstGeom prst="ellipse">
            <a:avLst/>
          </a:prstGeom>
          <a:solidFill>
            <a:srgbClr val="1FA3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372600" y="3337560"/>
            <a:ext cx="310896" cy="310896"/>
          </a:xfrm>
          <a:prstGeom prst="rect">
            <a:avLst/>
          </a:prstGeom>
          <a:noFill/>
        </p:spPr>
        <p:txBody>
          <a:bodyPr wrap="square" lIns="0" rIns="0" tIns="0" bIns="0" anchor="ctr">
            <a:spAutoFit/>
          </a:bodyPr>
          <a:lstStyle/>
          <a:p>
            <a:pPr algn="ctr"/>
            <a:r>
              <a:rPr sz="1200" b="1" i="0">
                <a:solidFill>
                  <a:srgbClr val="FFFFFF"/>
                </a:solidFill>
                <a:latin typeface="Calibri"/>
              </a:rPr>
              <a:t>8</a:t>
            </a:r>
          </a:p>
        </p:txBody>
      </p:sp>
      <p:sp>
        <p:nvSpPr>
          <p:cNvPr id="30" name="Oval 29"/>
          <p:cNvSpPr/>
          <p:nvPr/>
        </p:nvSpPr>
        <p:spPr>
          <a:xfrm>
            <a:off x="9820656" y="3337560"/>
            <a:ext cx="310896" cy="310896"/>
          </a:xfrm>
          <a:prstGeom prst="ellipse">
            <a:avLst/>
          </a:prstGeom>
          <a:solidFill>
            <a:srgbClr val="1FA3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820656" y="3337560"/>
            <a:ext cx="310896" cy="310896"/>
          </a:xfrm>
          <a:prstGeom prst="rect">
            <a:avLst/>
          </a:prstGeom>
          <a:noFill/>
        </p:spPr>
        <p:txBody>
          <a:bodyPr wrap="square" lIns="0" rIns="0" tIns="0" bIns="0" anchor="ctr">
            <a:spAutoFit/>
          </a:bodyPr>
          <a:lstStyle/>
          <a:p>
            <a:pPr algn="ctr"/>
            <a:r>
              <a:rPr sz="1200" b="1" i="0">
                <a:solidFill>
                  <a:srgbClr val="FFFFFF"/>
                </a:solidFill>
                <a:latin typeface="Calibri"/>
              </a:rPr>
              <a:t>9</a:t>
            </a:r>
          </a:p>
        </p:txBody>
      </p:sp>
      <p:sp>
        <p:nvSpPr>
          <p:cNvPr id="32" name="Oval 31"/>
          <p:cNvSpPr/>
          <p:nvPr/>
        </p:nvSpPr>
        <p:spPr>
          <a:xfrm>
            <a:off x="10195560" y="3337560"/>
            <a:ext cx="310896" cy="310896"/>
          </a:xfrm>
          <a:prstGeom prst="ellipse">
            <a:avLst/>
          </a:prstGeom>
          <a:solidFill>
            <a:srgbClr val="1FA3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0195560" y="3337560"/>
            <a:ext cx="310896" cy="310896"/>
          </a:xfrm>
          <a:prstGeom prst="rect">
            <a:avLst/>
          </a:prstGeom>
          <a:noFill/>
        </p:spPr>
        <p:txBody>
          <a:bodyPr wrap="square" lIns="0" rIns="0" tIns="0" bIns="0" anchor="ctr">
            <a:spAutoFit/>
          </a:bodyPr>
          <a:lstStyle/>
          <a:p>
            <a:pPr algn="ctr"/>
            <a:r>
              <a:rPr sz="1200" b="1" i="0">
                <a:solidFill>
                  <a:srgbClr val="FFFFFF"/>
                </a:solidFill>
                <a:latin typeface="Calibri"/>
              </a:rPr>
              <a:t>10</a:t>
            </a:r>
          </a:p>
        </p:txBody>
      </p:sp>
      <p:sp>
        <p:nvSpPr>
          <p:cNvPr id="34" name="Oval 33"/>
          <p:cNvSpPr/>
          <p:nvPr/>
        </p:nvSpPr>
        <p:spPr>
          <a:xfrm>
            <a:off x="10570464" y="3337560"/>
            <a:ext cx="310896" cy="310896"/>
          </a:xfrm>
          <a:prstGeom prst="ellipse">
            <a:avLst/>
          </a:prstGeom>
          <a:solidFill>
            <a:srgbClr val="1FA3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0570464" y="3337560"/>
            <a:ext cx="310896" cy="310896"/>
          </a:xfrm>
          <a:prstGeom prst="rect">
            <a:avLst/>
          </a:prstGeom>
          <a:noFill/>
        </p:spPr>
        <p:txBody>
          <a:bodyPr wrap="square" lIns="0" rIns="0" tIns="0" bIns="0" anchor="ctr">
            <a:spAutoFit/>
          </a:bodyPr>
          <a:lstStyle/>
          <a:p>
            <a:pPr algn="ctr"/>
            <a:r>
              <a:rPr sz="1200" b="1" i="0">
                <a:solidFill>
                  <a:srgbClr val="FFFFFF"/>
                </a:solidFill>
                <a:latin typeface="Calibri"/>
              </a:rPr>
              <a:t>11</a:t>
            </a:r>
          </a:p>
        </p:txBody>
      </p:sp>
      <p:sp>
        <p:nvSpPr>
          <p:cNvPr id="36" name="Oval 35"/>
          <p:cNvSpPr/>
          <p:nvPr/>
        </p:nvSpPr>
        <p:spPr>
          <a:xfrm>
            <a:off x="10945368" y="3337560"/>
            <a:ext cx="310896" cy="310896"/>
          </a:xfrm>
          <a:prstGeom prst="ellipse">
            <a:avLst/>
          </a:prstGeom>
          <a:solidFill>
            <a:srgbClr val="1FA3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0945368" y="3337560"/>
            <a:ext cx="310896" cy="310896"/>
          </a:xfrm>
          <a:prstGeom prst="rect">
            <a:avLst/>
          </a:prstGeom>
          <a:noFill/>
        </p:spPr>
        <p:txBody>
          <a:bodyPr wrap="square" lIns="0" rIns="0" tIns="0" bIns="0" anchor="ctr">
            <a:spAutoFit/>
          </a:bodyPr>
          <a:lstStyle/>
          <a:p>
            <a:pPr algn="ctr"/>
            <a:r>
              <a:rPr sz="1200" b="1" i="0">
                <a:solidFill>
                  <a:srgbClr val="FFFFFF"/>
                </a:solidFill>
                <a:latin typeface="Calibri"/>
              </a:rPr>
              <a:t>12</a:t>
            </a:r>
          </a:p>
        </p:txBody>
      </p:sp>
      <p:sp>
        <p:nvSpPr>
          <p:cNvPr id="38" name="TextBox 37"/>
          <p:cNvSpPr txBox="1"/>
          <p:nvPr/>
        </p:nvSpPr>
        <p:spPr>
          <a:xfrm>
            <a:off x="6675120" y="3749039"/>
            <a:ext cx="1463040" cy="320040"/>
          </a:xfrm>
          <a:prstGeom prst="rect">
            <a:avLst/>
          </a:prstGeom>
          <a:noFill/>
        </p:spPr>
        <p:txBody>
          <a:bodyPr wrap="square" lIns="0" rIns="0" tIns="0" bIns="0" anchor="t">
            <a:spAutoFit/>
          </a:bodyPr>
          <a:lstStyle/>
          <a:p>
            <a:pPr algn="l"/>
            <a:r>
              <a:rPr sz="1600" b="1" i="0">
                <a:solidFill>
                  <a:srgbClr val="F28C28"/>
                </a:solidFill>
                <a:latin typeface="Calibri"/>
              </a:rPr>
              <a:t>Anna: 4</a:t>
            </a:r>
          </a:p>
        </p:txBody>
      </p:sp>
      <p:sp>
        <p:nvSpPr>
          <p:cNvPr id="39" name="TextBox 38"/>
          <p:cNvSpPr txBox="1"/>
          <p:nvPr/>
        </p:nvSpPr>
        <p:spPr>
          <a:xfrm>
            <a:off x="8229600" y="3749039"/>
            <a:ext cx="3108960" cy="320040"/>
          </a:xfrm>
          <a:prstGeom prst="rect">
            <a:avLst/>
          </a:prstGeom>
          <a:noFill/>
        </p:spPr>
        <p:txBody>
          <a:bodyPr wrap="square" lIns="0" rIns="0" tIns="0" bIns="0" anchor="t">
            <a:spAutoFit/>
          </a:bodyPr>
          <a:lstStyle/>
          <a:p>
            <a:pPr algn="l"/>
            <a:r>
              <a:rPr sz="1600" b="1" i="0">
                <a:solidFill>
                  <a:srgbClr val="1FA37A"/>
                </a:solidFill>
                <a:latin typeface="Calibri"/>
              </a:rPr>
              <a:t>Tom: 8</a:t>
            </a:r>
          </a:p>
        </p:txBody>
      </p:sp>
      <p:sp>
        <p:nvSpPr>
          <p:cNvPr id="40" name="TextBox 39"/>
          <p:cNvSpPr txBox="1"/>
          <p:nvPr/>
        </p:nvSpPr>
        <p:spPr>
          <a:xfrm>
            <a:off x="6675120" y="4206240"/>
            <a:ext cx="4663440" cy="1005840"/>
          </a:xfrm>
          <a:prstGeom prst="rect">
            <a:avLst/>
          </a:prstGeom>
          <a:noFill/>
        </p:spPr>
        <p:txBody>
          <a:bodyPr wrap="square" lIns="0" rIns="0" tIns="0" bIns="0" anchor="t">
            <a:spAutoFit/>
          </a:bodyPr>
          <a:lstStyle/>
          <a:p>
            <a:pPr algn="l"/>
            <a:r>
              <a:rPr sz="1600" b="0" i="0">
                <a:solidFill>
                  <a:srgbClr val="1F2937"/>
                </a:solidFill>
                <a:latin typeface="Calibri"/>
              </a:rPr>
              <a:t>12 in 3 equal groups of 4.</a:t>
            </a:r>
          </a:p>
          <a:p>
            <a:pPr algn="l"/>
            <a:r>
              <a:rPr sz="1600" b="0" i="0">
                <a:solidFill>
                  <a:srgbClr val="1F2937"/>
                </a:solidFill>
                <a:latin typeface="Calibri"/>
              </a:rPr>
              <a:t>1 group is 1/3 → Anna gets 4.</a:t>
            </a:r>
          </a:p>
          <a:p>
            <a:pPr algn="l"/>
            <a:r>
              <a:rPr sz="1600" b="0" i="0">
                <a:solidFill>
                  <a:srgbClr val="1F2937"/>
                </a:solidFill>
                <a:latin typeface="Calibri"/>
              </a:rPr>
              <a:t>Tom has 8 left.</a:t>
            </a:r>
          </a:p>
        </p:txBody>
      </p:sp>
      <p:sp>
        <p:nvSpPr>
          <p:cNvPr id="41" name="Rounded Rectangle 40"/>
          <p:cNvSpPr/>
          <p:nvPr/>
        </p:nvSpPr>
        <p:spPr>
          <a:xfrm>
            <a:off x="640080" y="5486400"/>
            <a:ext cx="11064240" cy="822960"/>
          </a:xfrm>
          <a:prstGeom prst="roundRect">
            <a:avLst>
              <a:gd name="adj" fmla="val 13333"/>
            </a:avLst>
          </a:prstGeom>
          <a:solidFill>
            <a:srgbClr val="1B3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22960" y="5486400"/>
            <a:ext cx="10698480" cy="822960"/>
          </a:xfrm>
          <a:prstGeom prst="rect">
            <a:avLst/>
          </a:prstGeom>
          <a:noFill/>
        </p:spPr>
        <p:txBody>
          <a:bodyPr wrap="square" lIns="0" rIns="0" tIns="0" bIns="0" anchor="ctr">
            <a:spAutoFit/>
          </a:bodyPr>
          <a:lstStyle/>
          <a:p>
            <a:pPr algn="ctr"/>
            <a:r>
              <a:rPr sz="2000" b="1" i="0">
                <a:solidFill>
                  <a:srgbClr val="FFFFFF"/>
                </a:solidFill>
                <a:latin typeface="Calibri"/>
              </a:rPr>
              <a:t>Change the question: 1/3 to Anna and 1/4 to Ben?</a:t>
            </a:r>
          </a:p>
          <a:p>
            <a:pPr algn="ctr"/>
            <a:r>
              <a:rPr sz="2000" b="1" i="0">
                <a:solidFill>
                  <a:srgbClr val="FFFFFF"/>
                </a:solidFill>
                <a:latin typeface="Calibri"/>
              </a:rPr>
              <a:t>Copied steps: lost.   Understanding: 12 − 4 − 3 = 5</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5">
    <p:bg>
      <p:bgPr>
        <a:solidFill>
          <a:srgbClr val="EAF1FB"/>
        </a:solidFill>
        <a:effectLst/>
      </p:bgPr>
    </p:bg>
    <p:spTree>
      <p:nvGrpSpPr>
        <p:cNvPr id="1" name=""/>
        <p:cNvGrpSpPr/>
        <p:nvPr/>
      </p:nvGrpSpPr>
      <p:grpSpPr>
        <a:xfrm>
          <a:off x="0" y="0"/>
          <a:ext cx="0" cy="0"/>
          <a:chOff x="0" y="0"/>
          <a:chExt cx="0" cy="0"/>
        </a:xfrm>
      </p:grpSpPr>
      <p:sp>
        <p:nvSpPr>
          <p:cNvPr id="2" name="Text 0"/>
          <p:cNvSpPr txBox="1"/>
          <p:nvPr/>
        </p:nvSpPr>
        <p:spPr>
          <a:xfrm>
            <a:off x="640080" y="457200"/>
            <a:ext cx="10881360" cy="822960"/>
          </a:xfrm>
          <a:prstGeom prst="rect">
            <a:avLst/>
          </a:prstGeom>
          <a:noFill/>
          <a:ln/>
        </p:spPr>
        <p:txBody>
          <a:bodyPr wrap="square" lIns="0" tIns="0" rIns="0" bIns="0" rtlCol="0" anchor="ctr"/>
          <a:lstStyle/>
          <a:p>
            <a:pPr marL="0" indent="0">
              <a:buNone/>
            </a:pPr>
            <a:r>
              <a:rPr lang="en-US" sz="4400" b="1" dirty="0">
                <a:solidFill>
                  <a:srgbClr val="1B3A8C"/>
                </a:solidFill>
                <a:latin typeface="Calibri" pitchFamily="34" charset="0"/>
                <a:ea typeface="Calibri" pitchFamily="34" charset="-122"/>
                <a:cs typeface="Calibri" pitchFamily="34" charset="-120"/>
              </a:rPr>
              <a:t>Logic Training</a:t>
            </a:r>
            <a:endParaRPr lang="en-US" sz="4400" dirty="0"/>
          </a:p>
        </p:txBody>
      </p:sp>
      <p:sp>
        <p:nvSpPr>
          <p:cNvPr id="3" name="Shape 1"/>
          <p:cNvSpPr/>
          <p:nvPr/>
        </p:nvSpPr>
        <p:spPr>
          <a:xfrm>
            <a:off x="640080" y="1371600"/>
            <a:ext cx="11064240" cy="1097280"/>
          </a:xfrm>
          <a:prstGeom prst="roundRect">
            <a:avLst>
              <a:gd name="adj" fmla="val 12500"/>
            </a:avLst>
          </a:prstGeom>
          <a:solidFill>
            <a:srgbClr val="1B3A8C"/>
          </a:solidFill>
          <a:ln/>
        </p:spPr>
        <p:txBody>
          <a:bodyPr/>
          <a:lstStyle/>
          <a:p>
            <a:endParaRPr lang="zh-CN" altLang="en-US"/>
          </a:p>
        </p:txBody>
      </p:sp>
      <p:sp>
        <p:nvSpPr>
          <p:cNvPr id="4" name="Text 2"/>
          <p:cNvSpPr txBox="1"/>
          <p:nvPr/>
        </p:nvSpPr>
        <p:spPr>
          <a:xfrm>
            <a:off x="914400" y="1371600"/>
            <a:ext cx="10515600" cy="1097280"/>
          </a:xfrm>
          <a:prstGeom prst="rect">
            <a:avLst/>
          </a:prstGeom>
          <a:noFill/>
          <a:ln/>
        </p:spPr>
        <p:txBody>
          <a:bodyPr wrap="square" lIns="0" tIns="0" rIns="0" bIns="0"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Same topic, new question: fold a paper strip in half 3 times, then open it. How many creases?</a:t>
            </a:r>
            <a:endParaRPr lang="en-US" sz="2600" dirty="0"/>
          </a:p>
        </p:txBody>
      </p:sp>
      <p:sp>
        <p:nvSpPr>
          <p:cNvPr id="5" name="Shape 3"/>
          <p:cNvSpPr/>
          <p:nvPr/>
        </p:nvSpPr>
        <p:spPr>
          <a:xfrm>
            <a:off x="640080" y="2697480"/>
            <a:ext cx="3383280" cy="2286000"/>
          </a:xfrm>
          <a:prstGeom prst="roundRect">
            <a:avLst>
              <a:gd name="adj" fmla="val 6000"/>
            </a:avLst>
          </a:prstGeom>
          <a:solidFill>
            <a:srgbClr val="FFFFFF"/>
          </a:solidFill>
          <a:ln/>
        </p:spPr>
        <p:txBody>
          <a:bodyPr/>
          <a:lstStyle/>
          <a:p>
            <a:endParaRPr lang="zh-CN" altLang="en-US"/>
          </a:p>
        </p:txBody>
      </p:sp>
      <p:sp>
        <p:nvSpPr>
          <p:cNvPr id="6" name="Shape 4"/>
          <p:cNvSpPr/>
          <p:nvPr/>
        </p:nvSpPr>
        <p:spPr>
          <a:xfrm>
            <a:off x="960120" y="2971800"/>
            <a:ext cx="2743200" cy="640080"/>
          </a:xfrm>
          <a:prstGeom prst="rect">
            <a:avLst/>
          </a:prstGeom>
          <a:solidFill>
            <a:srgbClr val="EAF1FB"/>
          </a:solidFill>
          <a:ln w="25400">
            <a:solidFill>
              <a:srgbClr val="1B3A8C"/>
            </a:solidFill>
            <a:prstDash val="solid"/>
          </a:ln>
        </p:spPr>
        <p:txBody>
          <a:bodyPr/>
          <a:lstStyle/>
          <a:p>
            <a:endParaRPr lang="zh-CN" altLang="en-US"/>
          </a:p>
        </p:txBody>
      </p:sp>
      <p:sp>
        <p:nvSpPr>
          <p:cNvPr id="7" name="Shape 5"/>
          <p:cNvSpPr/>
          <p:nvPr/>
        </p:nvSpPr>
        <p:spPr>
          <a:xfrm>
            <a:off x="2331720" y="2971800"/>
            <a:ext cx="0" cy="640080"/>
          </a:xfrm>
          <a:prstGeom prst="line">
            <a:avLst/>
          </a:prstGeom>
          <a:noFill/>
          <a:ln w="38100">
            <a:solidFill>
              <a:srgbClr val="F28C28"/>
            </a:solidFill>
            <a:prstDash val="solid"/>
          </a:ln>
        </p:spPr>
        <p:txBody>
          <a:bodyPr/>
          <a:lstStyle/>
          <a:p>
            <a:endParaRPr lang="zh-CN" altLang="en-US"/>
          </a:p>
        </p:txBody>
      </p:sp>
      <p:sp>
        <p:nvSpPr>
          <p:cNvPr id="8" name="Text 6"/>
          <p:cNvSpPr txBox="1"/>
          <p:nvPr/>
        </p:nvSpPr>
        <p:spPr>
          <a:xfrm>
            <a:off x="960120" y="3840480"/>
            <a:ext cx="2743200" cy="457200"/>
          </a:xfrm>
          <a:prstGeom prst="rect">
            <a:avLst/>
          </a:prstGeom>
          <a:noFill/>
          <a:ln/>
        </p:spPr>
        <p:txBody>
          <a:bodyPr wrap="square" lIns="0" tIns="0" rIns="0" bIns="0" rtlCol="0" anchor="t"/>
          <a:lstStyle/>
          <a:p>
            <a:pPr marL="0" indent="0">
              <a:buNone/>
            </a:pPr>
            <a:r>
              <a:rPr lang="en-US" sz="2200" dirty="0">
                <a:solidFill>
                  <a:srgbClr val="5B6472"/>
                </a:solidFill>
                <a:latin typeface="Calibri" pitchFamily="34" charset="0"/>
                <a:ea typeface="Calibri" pitchFamily="34" charset="-122"/>
                <a:cs typeface="Calibri" pitchFamily="34" charset="-120"/>
              </a:rPr>
              <a:t>1 fold</a:t>
            </a:r>
            <a:endParaRPr lang="en-US" sz="2200" dirty="0"/>
          </a:p>
        </p:txBody>
      </p:sp>
      <p:sp>
        <p:nvSpPr>
          <p:cNvPr id="9" name="Text 7"/>
          <p:cNvSpPr txBox="1"/>
          <p:nvPr/>
        </p:nvSpPr>
        <p:spPr>
          <a:xfrm>
            <a:off x="960120" y="4297680"/>
            <a:ext cx="2743200" cy="548640"/>
          </a:xfrm>
          <a:prstGeom prst="rect">
            <a:avLst/>
          </a:prstGeom>
          <a:noFill/>
          <a:ln/>
        </p:spPr>
        <p:txBody>
          <a:bodyPr wrap="square" lIns="0" tIns="0" rIns="0" bIns="0" rtlCol="0" anchor="t"/>
          <a:lstStyle/>
          <a:p>
            <a:pPr marL="0" indent="0">
              <a:buNone/>
            </a:pPr>
            <a:r>
              <a:rPr lang="en-US" sz="2800" b="1" dirty="0">
                <a:solidFill>
                  <a:srgbClr val="1B3A8C"/>
                </a:solidFill>
                <a:latin typeface="Calibri" pitchFamily="34" charset="0"/>
                <a:ea typeface="Calibri" pitchFamily="34" charset="-122"/>
                <a:cs typeface="Calibri" pitchFamily="34" charset="-120"/>
              </a:rPr>
              <a:t>1 crease</a:t>
            </a:r>
            <a:endParaRPr lang="en-US" sz="2800" dirty="0"/>
          </a:p>
        </p:txBody>
      </p:sp>
      <p:sp>
        <p:nvSpPr>
          <p:cNvPr id="10" name="Shape 8"/>
          <p:cNvSpPr/>
          <p:nvPr/>
        </p:nvSpPr>
        <p:spPr>
          <a:xfrm>
            <a:off x="4480560" y="2697480"/>
            <a:ext cx="3383280" cy="2286000"/>
          </a:xfrm>
          <a:prstGeom prst="roundRect">
            <a:avLst>
              <a:gd name="adj" fmla="val 6000"/>
            </a:avLst>
          </a:prstGeom>
          <a:solidFill>
            <a:srgbClr val="FFFFFF"/>
          </a:solidFill>
          <a:ln/>
        </p:spPr>
        <p:txBody>
          <a:bodyPr/>
          <a:lstStyle/>
          <a:p>
            <a:endParaRPr lang="zh-CN" altLang="en-US"/>
          </a:p>
        </p:txBody>
      </p:sp>
      <p:sp>
        <p:nvSpPr>
          <p:cNvPr id="11" name="Shape 9"/>
          <p:cNvSpPr/>
          <p:nvPr/>
        </p:nvSpPr>
        <p:spPr>
          <a:xfrm>
            <a:off x="4800600" y="2971800"/>
            <a:ext cx="2743200" cy="640080"/>
          </a:xfrm>
          <a:prstGeom prst="rect">
            <a:avLst/>
          </a:prstGeom>
          <a:solidFill>
            <a:srgbClr val="EAF1FB"/>
          </a:solidFill>
          <a:ln w="25400">
            <a:solidFill>
              <a:srgbClr val="1B3A8C"/>
            </a:solidFill>
            <a:prstDash val="solid"/>
          </a:ln>
        </p:spPr>
        <p:txBody>
          <a:bodyPr/>
          <a:lstStyle/>
          <a:p>
            <a:endParaRPr lang="zh-CN" altLang="en-US"/>
          </a:p>
        </p:txBody>
      </p:sp>
      <p:sp>
        <p:nvSpPr>
          <p:cNvPr id="12" name="Shape 10"/>
          <p:cNvSpPr/>
          <p:nvPr/>
        </p:nvSpPr>
        <p:spPr>
          <a:xfrm>
            <a:off x="5486400" y="2971800"/>
            <a:ext cx="0" cy="640080"/>
          </a:xfrm>
          <a:prstGeom prst="line">
            <a:avLst/>
          </a:prstGeom>
          <a:noFill/>
          <a:ln w="38100">
            <a:solidFill>
              <a:srgbClr val="F28C28"/>
            </a:solidFill>
            <a:prstDash val="solid"/>
          </a:ln>
        </p:spPr>
        <p:txBody>
          <a:bodyPr/>
          <a:lstStyle/>
          <a:p>
            <a:endParaRPr lang="zh-CN" altLang="en-US"/>
          </a:p>
        </p:txBody>
      </p:sp>
      <p:sp>
        <p:nvSpPr>
          <p:cNvPr id="13" name="Shape 11"/>
          <p:cNvSpPr/>
          <p:nvPr/>
        </p:nvSpPr>
        <p:spPr>
          <a:xfrm>
            <a:off x="6172200" y="2971800"/>
            <a:ext cx="0" cy="640080"/>
          </a:xfrm>
          <a:prstGeom prst="line">
            <a:avLst/>
          </a:prstGeom>
          <a:noFill/>
          <a:ln w="38100">
            <a:solidFill>
              <a:srgbClr val="F28C28"/>
            </a:solidFill>
            <a:prstDash val="solid"/>
          </a:ln>
        </p:spPr>
        <p:txBody>
          <a:bodyPr/>
          <a:lstStyle/>
          <a:p>
            <a:endParaRPr lang="zh-CN" altLang="en-US"/>
          </a:p>
        </p:txBody>
      </p:sp>
      <p:sp>
        <p:nvSpPr>
          <p:cNvPr id="14" name="Shape 12"/>
          <p:cNvSpPr/>
          <p:nvPr/>
        </p:nvSpPr>
        <p:spPr>
          <a:xfrm>
            <a:off x="6858000" y="2971800"/>
            <a:ext cx="0" cy="640080"/>
          </a:xfrm>
          <a:prstGeom prst="line">
            <a:avLst/>
          </a:prstGeom>
          <a:noFill/>
          <a:ln w="38100">
            <a:solidFill>
              <a:srgbClr val="F28C28"/>
            </a:solidFill>
            <a:prstDash val="solid"/>
          </a:ln>
        </p:spPr>
        <p:txBody>
          <a:bodyPr/>
          <a:lstStyle/>
          <a:p>
            <a:endParaRPr lang="zh-CN" altLang="en-US"/>
          </a:p>
        </p:txBody>
      </p:sp>
      <p:sp>
        <p:nvSpPr>
          <p:cNvPr id="15" name="Text 13"/>
          <p:cNvSpPr txBox="1"/>
          <p:nvPr/>
        </p:nvSpPr>
        <p:spPr>
          <a:xfrm>
            <a:off x="4800600" y="3840480"/>
            <a:ext cx="2743200" cy="457200"/>
          </a:xfrm>
          <a:prstGeom prst="rect">
            <a:avLst/>
          </a:prstGeom>
          <a:noFill/>
          <a:ln/>
        </p:spPr>
        <p:txBody>
          <a:bodyPr wrap="square" lIns="0" tIns="0" rIns="0" bIns="0" rtlCol="0" anchor="t"/>
          <a:lstStyle/>
          <a:p>
            <a:pPr marL="0" indent="0">
              <a:buNone/>
            </a:pPr>
            <a:r>
              <a:rPr lang="en-US" sz="2200" dirty="0">
                <a:solidFill>
                  <a:srgbClr val="5B6472"/>
                </a:solidFill>
                <a:latin typeface="Calibri" pitchFamily="34" charset="0"/>
                <a:ea typeface="Calibri" pitchFamily="34" charset="-122"/>
                <a:cs typeface="Calibri" pitchFamily="34" charset="-120"/>
              </a:rPr>
              <a:t>2 folds</a:t>
            </a:r>
            <a:endParaRPr lang="en-US" sz="2200" dirty="0"/>
          </a:p>
        </p:txBody>
      </p:sp>
      <p:sp>
        <p:nvSpPr>
          <p:cNvPr id="16" name="Text 14"/>
          <p:cNvSpPr txBox="1"/>
          <p:nvPr/>
        </p:nvSpPr>
        <p:spPr>
          <a:xfrm>
            <a:off x="4800600" y="4297680"/>
            <a:ext cx="2743200" cy="548640"/>
          </a:xfrm>
          <a:prstGeom prst="rect">
            <a:avLst/>
          </a:prstGeom>
          <a:noFill/>
          <a:ln/>
        </p:spPr>
        <p:txBody>
          <a:bodyPr wrap="square" lIns="0" tIns="0" rIns="0" bIns="0" rtlCol="0" anchor="t"/>
          <a:lstStyle/>
          <a:p>
            <a:pPr marL="0" indent="0">
              <a:buNone/>
            </a:pPr>
            <a:r>
              <a:rPr lang="en-US" sz="2800" b="1" dirty="0">
                <a:solidFill>
                  <a:srgbClr val="1B3A8C"/>
                </a:solidFill>
                <a:latin typeface="Calibri" pitchFamily="34" charset="0"/>
                <a:ea typeface="Calibri" pitchFamily="34" charset="-122"/>
                <a:cs typeface="Calibri" pitchFamily="34" charset="-120"/>
              </a:rPr>
              <a:t>3 creases</a:t>
            </a:r>
            <a:endParaRPr lang="en-US" sz="2800" dirty="0"/>
          </a:p>
        </p:txBody>
      </p:sp>
      <p:sp>
        <p:nvSpPr>
          <p:cNvPr id="17" name="Shape 15"/>
          <p:cNvSpPr/>
          <p:nvPr/>
        </p:nvSpPr>
        <p:spPr>
          <a:xfrm>
            <a:off x="8321040" y="2697480"/>
            <a:ext cx="3383280" cy="2286000"/>
          </a:xfrm>
          <a:prstGeom prst="roundRect">
            <a:avLst>
              <a:gd name="adj" fmla="val 6000"/>
            </a:avLst>
          </a:prstGeom>
          <a:solidFill>
            <a:srgbClr val="FFFFFF"/>
          </a:solidFill>
          <a:ln/>
        </p:spPr>
        <p:txBody>
          <a:bodyPr/>
          <a:lstStyle/>
          <a:p>
            <a:endParaRPr lang="zh-CN" altLang="en-US"/>
          </a:p>
        </p:txBody>
      </p:sp>
      <p:sp>
        <p:nvSpPr>
          <p:cNvPr id="18" name="Shape 16"/>
          <p:cNvSpPr/>
          <p:nvPr/>
        </p:nvSpPr>
        <p:spPr>
          <a:xfrm>
            <a:off x="8641080" y="2971800"/>
            <a:ext cx="2743200" cy="640080"/>
          </a:xfrm>
          <a:prstGeom prst="rect">
            <a:avLst/>
          </a:prstGeom>
          <a:solidFill>
            <a:srgbClr val="EAF1FB"/>
          </a:solidFill>
          <a:ln w="25400">
            <a:solidFill>
              <a:srgbClr val="1B3A8C"/>
            </a:solidFill>
            <a:prstDash val="solid"/>
          </a:ln>
        </p:spPr>
        <p:txBody>
          <a:bodyPr/>
          <a:lstStyle/>
          <a:p>
            <a:endParaRPr lang="zh-CN" altLang="en-US"/>
          </a:p>
        </p:txBody>
      </p:sp>
      <p:sp>
        <p:nvSpPr>
          <p:cNvPr id="19" name="Shape 17"/>
          <p:cNvSpPr/>
          <p:nvPr/>
        </p:nvSpPr>
        <p:spPr>
          <a:xfrm>
            <a:off x="8983980" y="2971800"/>
            <a:ext cx="0" cy="640080"/>
          </a:xfrm>
          <a:prstGeom prst="line">
            <a:avLst/>
          </a:prstGeom>
          <a:noFill/>
          <a:ln w="38100">
            <a:solidFill>
              <a:srgbClr val="F28C28"/>
            </a:solidFill>
            <a:prstDash val="solid"/>
          </a:ln>
        </p:spPr>
        <p:txBody>
          <a:bodyPr/>
          <a:lstStyle/>
          <a:p>
            <a:endParaRPr lang="zh-CN" altLang="en-US"/>
          </a:p>
        </p:txBody>
      </p:sp>
      <p:sp>
        <p:nvSpPr>
          <p:cNvPr id="20" name="Shape 18"/>
          <p:cNvSpPr/>
          <p:nvPr/>
        </p:nvSpPr>
        <p:spPr>
          <a:xfrm>
            <a:off x="9326880" y="2971800"/>
            <a:ext cx="0" cy="640080"/>
          </a:xfrm>
          <a:prstGeom prst="line">
            <a:avLst/>
          </a:prstGeom>
          <a:noFill/>
          <a:ln w="38100">
            <a:solidFill>
              <a:srgbClr val="F28C28"/>
            </a:solidFill>
            <a:prstDash val="solid"/>
          </a:ln>
        </p:spPr>
        <p:txBody>
          <a:bodyPr/>
          <a:lstStyle/>
          <a:p>
            <a:endParaRPr lang="zh-CN" altLang="en-US"/>
          </a:p>
        </p:txBody>
      </p:sp>
      <p:sp>
        <p:nvSpPr>
          <p:cNvPr id="21" name="Shape 19"/>
          <p:cNvSpPr/>
          <p:nvPr/>
        </p:nvSpPr>
        <p:spPr>
          <a:xfrm>
            <a:off x="9669780" y="2971800"/>
            <a:ext cx="0" cy="640080"/>
          </a:xfrm>
          <a:prstGeom prst="line">
            <a:avLst/>
          </a:prstGeom>
          <a:noFill/>
          <a:ln w="38100">
            <a:solidFill>
              <a:srgbClr val="F28C28"/>
            </a:solidFill>
            <a:prstDash val="solid"/>
          </a:ln>
        </p:spPr>
        <p:txBody>
          <a:bodyPr/>
          <a:lstStyle/>
          <a:p>
            <a:endParaRPr lang="zh-CN" altLang="en-US"/>
          </a:p>
        </p:txBody>
      </p:sp>
      <p:sp>
        <p:nvSpPr>
          <p:cNvPr id="22" name="Shape 20"/>
          <p:cNvSpPr/>
          <p:nvPr/>
        </p:nvSpPr>
        <p:spPr>
          <a:xfrm>
            <a:off x="10012680" y="2971800"/>
            <a:ext cx="0" cy="640080"/>
          </a:xfrm>
          <a:prstGeom prst="line">
            <a:avLst/>
          </a:prstGeom>
          <a:noFill/>
          <a:ln w="38100">
            <a:solidFill>
              <a:srgbClr val="F28C28"/>
            </a:solidFill>
            <a:prstDash val="solid"/>
          </a:ln>
        </p:spPr>
        <p:txBody>
          <a:bodyPr/>
          <a:lstStyle/>
          <a:p>
            <a:endParaRPr lang="zh-CN" altLang="en-US"/>
          </a:p>
        </p:txBody>
      </p:sp>
      <p:sp>
        <p:nvSpPr>
          <p:cNvPr id="23" name="Shape 21"/>
          <p:cNvSpPr/>
          <p:nvPr/>
        </p:nvSpPr>
        <p:spPr>
          <a:xfrm>
            <a:off x="10355580" y="2971800"/>
            <a:ext cx="0" cy="640080"/>
          </a:xfrm>
          <a:prstGeom prst="line">
            <a:avLst/>
          </a:prstGeom>
          <a:noFill/>
          <a:ln w="38100">
            <a:solidFill>
              <a:srgbClr val="F28C28"/>
            </a:solidFill>
            <a:prstDash val="solid"/>
          </a:ln>
        </p:spPr>
        <p:txBody>
          <a:bodyPr/>
          <a:lstStyle/>
          <a:p>
            <a:endParaRPr lang="zh-CN" altLang="en-US"/>
          </a:p>
        </p:txBody>
      </p:sp>
      <p:sp>
        <p:nvSpPr>
          <p:cNvPr id="24" name="Shape 22"/>
          <p:cNvSpPr/>
          <p:nvPr/>
        </p:nvSpPr>
        <p:spPr>
          <a:xfrm>
            <a:off x="10698480" y="2971800"/>
            <a:ext cx="0" cy="640080"/>
          </a:xfrm>
          <a:prstGeom prst="line">
            <a:avLst/>
          </a:prstGeom>
          <a:noFill/>
          <a:ln w="38100">
            <a:solidFill>
              <a:srgbClr val="F28C28"/>
            </a:solidFill>
            <a:prstDash val="solid"/>
          </a:ln>
        </p:spPr>
        <p:txBody>
          <a:bodyPr/>
          <a:lstStyle/>
          <a:p>
            <a:endParaRPr lang="zh-CN" altLang="en-US"/>
          </a:p>
        </p:txBody>
      </p:sp>
      <p:sp>
        <p:nvSpPr>
          <p:cNvPr id="25" name="Shape 23"/>
          <p:cNvSpPr/>
          <p:nvPr/>
        </p:nvSpPr>
        <p:spPr>
          <a:xfrm>
            <a:off x="11041380" y="2971800"/>
            <a:ext cx="0" cy="640080"/>
          </a:xfrm>
          <a:prstGeom prst="line">
            <a:avLst/>
          </a:prstGeom>
          <a:noFill/>
          <a:ln w="38100">
            <a:solidFill>
              <a:srgbClr val="F28C28"/>
            </a:solidFill>
            <a:prstDash val="solid"/>
          </a:ln>
        </p:spPr>
        <p:txBody>
          <a:bodyPr/>
          <a:lstStyle/>
          <a:p>
            <a:endParaRPr lang="zh-CN" altLang="en-US"/>
          </a:p>
        </p:txBody>
      </p:sp>
      <p:sp>
        <p:nvSpPr>
          <p:cNvPr id="26" name="Text 24"/>
          <p:cNvSpPr txBox="1"/>
          <p:nvPr/>
        </p:nvSpPr>
        <p:spPr>
          <a:xfrm>
            <a:off x="8641080" y="3840480"/>
            <a:ext cx="2743200" cy="457200"/>
          </a:xfrm>
          <a:prstGeom prst="rect">
            <a:avLst/>
          </a:prstGeom>
          <a:noFill/>
          <a:ln/>
        </p:spPr>
        <p:txBody>
          <a:bodyPr wrap="square" lIns="0" tIns="0" rIns="0" bIns="0" rtlCol="0" anchor="t"/>
          <a:lstStyle/>
          <a:p>
            <a:pPr marL="0" indent="0">
              <a:buNone/>
            </a:pPr>
            <a:r>
              <a:rPr lang="en-US" sz="2200" dirty="0">
                <a:solidFill>
                  <a:srgbClr val="5B6472"/>
                </a:solidFill>
                <a:latin typeface="Calibri" pitchFamily="34" charset="0"/>
                <a:ea typeface="Calibri" pitchFamily="34" charset="-122"/>
                <a:cs typeface="Calibri" pitchFamily="34" charset="-120"/>
              </a:rPr>
              <a:t>3 folds</a:t>
            </a:r>
            <a:endParaRPr lang="en-US" sz="2200" dirty="0"/>
          </a:p>
        </p:txBody>
      </p:sp>
      <p:sp>
        <p:nvSpPr>
          <p:cNvPr id="27" name="Text 25"/>
          <p:cNvSpPr txBox="1"/>
          <p:nvPr/>
        </p:nvSpPr>
        <p:spPr>
          <a:xfrm>
            <a:off x="8641080" y="4297680"/>
            <a:ext cx="2743200" cy="548640"/>
          </a:xfrm>
          <a:prstGeom prst="rect">
            <a:avLst/>
          </a:prstGeom>
          <a:noFill/>
          <a:ln/>
        </p:spPr>
        <p:txBody>
          <a:bodyPr wrap="square" lIns="0" tIns="0" rIns="0" bIns="0" rtlCol="0" anchor="t"/>
          <a:lstStyle/>
          <a:p>
            <a:pPr marL="0" indent="0">
              <a:buNone/>
            </a:pPr>
            <a:r>
              <a:rPr lang="en-US" sz="2800" b="1" dirty="0">
                <a:solidFill>
                  <a:srgbClr val="1B3A8C"/>
                </a:solidFill>
                <a:latin typeface="Calibri" pitchFamily="34" charset="0"/>
                <a:ea typeface="Calibri" pitchFamily="34" charset="-122"/>
                <a:cs typeface="Calibri" pitchFamily="34" charset="-120"/>
              </a:rPr>
              <a:t>7 creases</a:t>
            </a:r>
            <a:endParaRPr lang="en-US" sz="2800" dirty="0"/>
          </a:p>
        </p:txBody>
      </p:sp>
      <p:sp>
        <p:nvSpPr>
          <p:cNvPr id="28" name="Shape 26"/>
          <p:cNvSpPr/>
          <p:nvPr/>
        </p:nvSpPr>
        <p:spPr>
          <a:xfrm>
            <a:off x="640080" y="5303520"/>
            <a:ext cx="2560320" cy="822960"/>
          </a:xfrm>
          <a:prstGeom prst="roundRect">
            <a:avLst>
              <a:gd name="adj" fmla="val 13333"/>
            </a:avLst>
          </a:prstGeom>
          <a:solidFill>
            <a:srgbClr val="F28C28"/>
          </a:solidFill>
          <a:ln/>
        </p:spPr>
        <p:txBody>
          <a:bodyPr/>
          <a:lstStyle/>
          <a:p>
            <a:endParaRPr lang="zh-CN" altLang="en-US"/>
          </a:p>
        </p:txBody>
      </p:sp>
      <p:sp>
        <p:nvSpPr>
          <p:cNvPr id="29" name="Text 27"/>
          <p:cNvSpPr txBox="1"/>
          <p:nvPr/>
        </p:nvSpPr>
        <p:spPr>
          <a:xfrm>
            <a:off x="640080" y="5303520"/>
            <a:ext cx="2560320" cy="822960"/>
          </a:xfrm>
          <a:prstGeom prst="rect">
            <a:avLst/>
          </a:prstGeom>
          <a:noFill/>
          <a:ln/>
        </p:spPr>
        <p:txBody>
          <a:bodyPr wrap="square" lIns="0" tIns="0" rIns="0" bIns="0"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Simplify</a:t>
            </a:r>
            <a:endParaRPr lang="en-US" sz="2200" dirty="0"/>
          </a:p>
        </p:txBody>
      </p:sp>
      <p:sp>
        <p:nvSpPr>
          <p:cNvPr id="30" name="Shape 28"/>
          <p:cNvSpPr/>
          <p:nvPr/>
        </p:nvSpPr>
        <p:spPr>
          <a:xfrm>
            <a:off x="3474720" y="5303520"/>
            <a:ext cx="2560320" cy="822960"/>
          </a:xfrm>
          <a:prstGeom prst="roundRect">
            <a:avLst>
              <a:gd name="adj" fmla="val 13333"/>
            </a:avLst>
          </a:prstGeom>
          <a:solidFill>
            <a:srgbClr val="1FA37A"/>
          </a:solidFill>
          <a:ln/>
        </p:spPr>
        <p:txBody>
          <a:bodyPr/>
          <a:lstStyle/>
          <a:p>
            <a:endParaRPr lang="zh-CN" altLang="en-US"/>
          </a:p>
        </p:txBody>
      </p:sp>
      <p:sp>
        <p:nvSpPr>
          <p:cNvPr id="31" name="Text 29"/>
          <p:cNvSpPr txBox="1"/>
          <p:nvPr/>
        </p:nvSpPr>
        <p:spPr>
          <a:xfrm>
            <a:off x="3474720" y="5303520"/>
            <a:ext cx="2560320" cy="822960"/>
          </a:xfrm>
          <a:prstGeom prst="rect">
            <a:avLst/>
          </a:prstGeom>
          <a:noFill/>
          <a:ln/>
        </p:spPr>
        <p:txBody>
          <a:bodyPr wrap="square" lIns="0" tIns="0" rIns="0" bIns="0"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Draw it</a:t>
            </a:r>
            <a:endParaRPr lang="en-US" sz="2200" dirty="0"/>
          </a:p>
        </p:txBody>
      </p:sp>
      <p:sp>
        <p:nvSpPr>
          <p:cNvPr id="32" name="Shape 30"/>
          <p:cNvSpPr/>
          <p:nvPr/>
        </p:nvSpPr>
        <p:spPr>
          <a:xfrm>
            <a:off x="6309360" y="5303520"/>
            <a:ext cx="2560320" cy="822960"/>
          </a:xfrm>
          <a:prstGeom prst="roundRect">
            <a:avLst>
              <a:gd name="adj" fmla="val 13333"/>
            </a:avLst>
          </a:prstGeom>
          <a:solidFill>
            <a:srgbClr val="1B3A8C"/>
          </a:solidFill>
          <a:ln/>
        </p:spPr>
        <p:txBody>
          <a:bodyPr/>
          <a:lstStyle/>
          <a:p>
            <a:endParaRPr lang="zh-CN" altLang="en-US"/>
          </a:p>
        </p:txBody>
      </p:sp>
      <p:sp>
        <p:nvSpPr>
          <p:cNvPr id="33" name="Text 31"/>
          <p:cNvSpPr txBox="1"/>
          <p:nvPr/>
        </p:nvSpPr>
        <p:spPr>
          <a:xfrm>
            <a:off x="6309360" y="5303520"/>
            <a:ext cx="2560320" cy="822960"/>
          </a:xfrm>
          <a:prstGeom prst="rect">
            <a:avLst/>
          </a:prstGeom>
          <a:noFill/>
          <a:ln/>
        </p:spPr>
        <p:txBody>
          <a:bodyPr wrap="square" lIns="0" tIns="0" rIns="0" bIns="0"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Find the rule</a:t>
            </a:r>
            <a:endParaRPr lang="en-US" sz="2200" dirty="0"/>
          </a:p>
        </p:txBody>
      </p:sp>
      <p:sp>
        <p:nvSpPr>
          <p:cNvPr id="34" name="Shape 32"/>
          <p:cNvSpPr/>
          <p:nvPr/>
        </p:nvSpPr>
        <p:spPr>
          <a:xfrm>
            <a:off x="9144000" y="5303520"/>
            <a:ext cx="2560320" cy="822960"/>
          </a:xfrm>
          <a:prstGeom prst="roundRect">
            <a:avLst>
              <a:gd name="adj" fmla="val 13333"/>
            </a:avLst>
          </a:prstGeom>
          <a:solidFill>
            <a:srgbClr val="F28C28"/>
          </a:solidFill>
          <a:ln/>
        </p:spPr>
        <p:txBody>
          <a:bodyPr/>
          <a:lstStyle/>
          <a:p>
            <a:endParaRPr lang="zh-CN" altLang="en-US"/>
          </a:p>
        </p:txBody>
      </p:sp>
      <p:sp>
        <p:nvSpPr>
          <p:cNvPr id="35" name="Text 33"/>
          <p:cNvSpPr txBox="1"/>
          <p:nvPr/>
        </p:nvSpPr>
        <p:spPr>
          <a:xfrm>
            <a:off x="9144000" y="5303520"/>
            <a:ext cx="2560320" cy="822960"/>
          </a:xfrm>
          <a:prstGeom prst="rect">
            <a:avLst/>
          </a:prstGeom>
          <a:noFill/>
          <a:ln/>
        </p:spPr>
        <p:txBody>
          <a:bodyPr wrap="square" lIns="0" tIns="0" rIns="0" bIns="0"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Test it</a:t>
            </a:r>
            <a:endParaRPr lang="en-US" sz="2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40080" y="457200"/>
            <a:ext cx="10881360" cy="822960"/>
          </a:xfrm>
          <a:prstGeom prst="rect">
            <a:avLst/>
          </a:prstGeom>
          <a:noFill/>
        </p:spPr>
        <p:txBody>
          <a:bodyPr wrap="square" lIns="0" tIns="0" rIns="0" bIns="0" anchor="ctr">
            <a:spAutoFit/>
          </a:bodyPr>
          <a:lstStyle/>
          <a:p>
            <a:pPr algn="l"/>
            <a:r>
              <a:rPr sz="4400" b="1" i="0">
                <a:solidFill>
                  <a:srgbClr val="1B3A8C"/>
                </a:solidFill>
                <a:latin typeface="Calibri"/>
              </a:rPr>
              <a:t>Logic: two ways to learn</a:t>
            </a:r>
          </a:p>
        </p:txBody>
      </p:sp>
      <p:sp>
        <p:nvSpPr>
          <p:cNvPr id="3" name="Rounded Rectangle 2"/>
          <p:cNvSpPr/>
          <p:nvPr/>
        </p:nvSpPr>
        <p:spPr>
          <a:xfrm>
            <a:off x="640080" y="1463040"/>
            <a:ext cx="5394960" cy="3840480"/>
          </a:xfrm>
          <a:prstGeom prst="roundRect">
            <a:avLst>
              <a:gd name="adj" fmla="val 2857"/>
            </a:avLst>
          </a:prstGeom>
          <a:solidFill>
            <a:srgbClr val="EAF1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005840" y="1691640"/>
            <a:ext cx="4663440" cy="548640"/>
          </a:xfrm>
          <a:prstGeom prst="rect">
            <a:avLst/>
          </a:prstGeom>
          <a:noFill/>
        </p:spPr>
        <p:txBody>
          <a:bodyPr wrap="square" lIns="0" tIns="0" rIns="0" bIns="0" anchor="t">
            <a:spAutoFit/>
          </a:bodyPr>
          <a:lstStyle/>
          <a:p>
            <a:pPr algn="l"/>
            <a:r>
              <a:rPr sz="3000" b="1" i="0">
                <a:solidFill>
                  <a:srgbClr val="F28C28"/>
                </a:solidFill>
                <a:latin typeface="Calibri"/>
              </a:rPr>
              <a:t>Memorising</a:t>
            </a:r>
          </a:p>
        </p:txBody>
      </p:sp>
      <p:sp>
        <p:nvSpPr>
          <p:cNvPr id="5" name="TextBox 4"/>
          <p:cNvSpPr txBox="1"/>
          <p:nvPr/>
        </p:nvSpPr>
        <p:spPr>
          <a:xfrm>
            <a:off x="1005840" y="2240280"/>
            <a:ext cx="4663440" cy="365760"/>
          </a:xfrm>
          <a:prstGeom prst="rect">
            <a:avLst/>
          </a:prstGeom>
          <a:noFill/>
        </p:spPr>
        <p:txBody>
          <a:bodyPr wrap="square" lIns="0" tIns="0" rIns="0" bIns="0" anchor="t">
            <a:spAutoFit/>
          </a:bodyPr>
          <a:lstStyle/>
          <a:p>
            <a:pPr algn="l"/>
            <a:r>
              <a:rPr sz="1800" b="0" i="0">
                <a:solidFill>
                  <a:srgbClr val="5B6472"/>
                </a:solidFill>
                <a:latin typeface="Calibri"/>
              </a:rPr>
              <a:t>a learned answer</a:t>
            </a:r>
          </a:p>
        </p:txBody>
      </p:sp>
      <p:sp>
        <p:nvSpPr>
          <p:cNvPr id="6" name="Rounded Rectangle 5"/>
          <p:cNvSpPr/>
          <p:nvPr/>
        </p:nvSpPr>
        <p:spPr>
          <a:xfrm>
            <a:off x="1005840" y="2834640"/>
            <a:ext cx="4663440" cy="731520"/>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05840" y="2834640"/>
            <a:ext cx="4663440" cy="731520"/>
          </a:xfrm>
          <a:prstGeom prst="rect">
            <a:avLst/>
          </a:prstGeom>
          <a:noFill/>
        </p:spPr>
        <p:txBody>
          <a:bodyPr wrap="square" lIns="0" tIns="0" rIns="0" bIns="0" anchor="ctr">
            <a:spAutoFit/>
          </a:bodyPr>
          <a:lstStyle/>
          <a:p>
            <a:pPr algn="ctr"/>
            <a:r>
              <a:rPr sz="2600" b="1" i="0">
                <a:solidFill>
                  <a:srgbClr val="1B3A8C"/>
                </a:solidFill>
                <a:latin typeface="Calibri"/>
              </a:rPr>
              <a:t>3 folds = 7 creases</a:t>
            </a:r>
          </a:p>
        </p:txBody>
      </p:sp>
      <p:sp>
        <p:nvSpPr>
          <p:cNvPr id="8" name="TextBox 7"/>
          <p:cNvSpPr txBox="1"/>
          <p:nvPr/>
        </p:nvSpPr>
        <p:spPr>
          <a:xfrm>
            <a:off x="1005840" y="3749039"/>
            <a:ext cx="3383280" cy="640080"/>
          </a:xfrm>
          <a:prstGeom prst="rect">
            <a:avLst/>
          </a:prstGeom>
          <a:noFill/>
        </p:spPr>
        <p:txBody>
          <a:bodyPr wrap="square" lIns="0" tIns="0" rIns="0" bIns="0" anchor="t">
            <a:spAutoFit/>
          </a:bodyPr>
          <a:lstStyle/>
          <a:p>
            <a:pPr algn="l"/>
            <a:r>
              <a:rPr sz="2400" b="1" i="0">
                <a:solidFill>
                  <a:srgbClr val="1F2937"/>
                </a:solidFill>
                <a:latin typeface="Calibri"/>
              </a:rPr>
              <a:t>New question:</a:t>
            </a:r>
          </a:p>
          <a:p>
            <a:pPr algn="l"/>
            <a:r>
              <a:rPr sz="2400" b="1" i="0">
                <a:solidFill>
                  <a:srgbClr val="1F2937"/>
                </a:solidFill>
                <a:latin typeface="Calibri"/>
              </a:rPr>
              <a:t>4 folds?</a:t>
            </a:r>
          </a:p>
        </p:txBody>
      </p:sp>
      <p:sp>
        <p:nvSpPr>
          <p:cNvPr id="9" name="Oval 8"/>
          <p:cNvSpPr/>
          <p:nvPr/>
        </p:nvSpPr>
        <p:spPr>
          <a:xfrm>
            <a:off x="4480560" y="3749039"/>
            <a:ext cx="914400" cy="91440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480560" y="3749039"/>
            <a:ext cx="914400" cy="914400"/>
          </a:xfrm>
          <a:prstGeom prst="rect">
            <a:avLst/>
          </a:prstGeom>
          <a:noFill/>
        </p:spPr>
        <p:txBody>
          <a:bodyPr wrap="square" lIns="0" tIns="0" rIns="0" bIns="0" anchor="ctr">
            <a:spAutoFit/>
          </a:bodyPr>
          <a:lstStyle/>
          <a:p>
            <a:pPr algn="ctr"/>
            <a:r>
              <a:rPr sz="4400" b="1" i="0">
                <a:solidFill>
                  <a:srgbClr val="FFFFFF"/>
                </a:solidFill>
                <a:latin typeface="Calibri"/>
              </a:rPr>
              <a:t>?</a:t>
            </a:r>
          </a:p>
        </p:txBody>
      </p:sp>
      <p:sp>
        <p:nvSpPr>
          <p:cNvPr id="11" name="TextBox 10"/>
          <p:cNvSpPr txBox="1"/>
          <p:nvPr/>
        </p:nvSpPr>
        <p:spPr>
          <a:xfrm>
            <a:off x="1005840" y="4754880"/>
            <a:ext cx="4663440" cy="411480"/>
          </a:xfrm>
          <a:prstGeom prst="rect">
            <a:avLst/>
          </a:prstGeom>
          <a:noFill/>
        </p:spPr>
        <p:txBody>
          <a:bodyPr wrap="square" lIns="0" tIns="0" rIns="0" bIns="0" anchor="t">
            <a:spAutoFit/>
          </a:bodyPr>
          <a:lstStyle/>
          <a:p>
            <a:pPr algn="l"/>
            <a:r>
              <a:rPr sz="1800" b="0" i="1">
                <a:solidFill>
                  <a:srgbClr val="5B6472"/>
                </a:solidFill>
                <a:latin typeface="Calibri"/>
              </a:rPr>
              <a:t>Stuck: remembered, not understood.</a:t>
            </a:r>
          </a:p>
        </p:txBody>
      </p:sp>
      <p:sp>
        <p:nvSpPr>
          <p:cNvPr id="12" name="Rounded Rectangle 11"/>
          <p:cNvSpPr/>
          <p:nvPr/>
        </p:nvSpPr>
        <p:spPr>
          <a:xfrm>
            <a:off x="6309360" y="1463040"/>
            <a:ext cx="5394960" cy="3840480"/>
          </a:xfrm>
          <a:prstGeom prst="roundRect">
            <a:avLst>
              <a:gd name="adj" fmla="val 2857"/>
            </a:avLst>
          </a:prstGeom>
          <a:solidFill>
            <a:srgbClr val="EAF1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675120" y="1691640"/>
            <a:ext cx="4663440" cy="548640"/>
          </a:xfrm>
          <a:prstGeom prst="rect">
            <a:avLst/>
          </a:prstGeom>
          <a:noFill/>
        </p:spPr>
        <p:txBody>
          <a:bodyPr wrap="square" lIns="0" tIns="0" rIns="0" bIns="0" anchor="t">
            <a:spAutoFit/>
          </a:bodyPr>
          <a:lstStyle/>
          <a:p>
            <a:pPr algn="l"/>
            <a:r>
              <a:rPr sz="3000" b="1" i="0">
                <a:solidFill>
                  <a:srgbClr val="1FA37A"/>
                </a:solidFill>
                <a:latin typeface="Calibri"/>
              </a:rPr>
              <a:t>With a method</a:t>
            </a:r>
          </a:p>
        </p:txBody>
      </p:sp>
      <p:sp>
        <p:nvSpPr>
          <p:cNvPr id="14" name="TextBox 13"/>
          <p:cNvSpPr txBox="1"/>
          <p:nvPr/>
        </p:nvSpPr>
        <p:spPr>
          <a:xfrm>
            <a:off x="6675120" y="2240280"/>
            <a:ext cx="4663440" cy="365760"/>
          </a:xfrm>
          <a:prstGeom prst="rect">
            <a:avLst/>
          </a:prstGeom>
          <a:noFill/>
        </p:spPr>
        <p:txBody>
          <a:bodyPr wrap="square" lIns="0" tIns="0" rIns="0" bIns="0" anchor="t">
            <a:spAutoFit/>
          </a:bodyPr>
          <a:lstStyle/>
          <a:p>
            <a:pPr algn="l"/>
            <a:r>
              <a:rPr sz="1800" b="0" i="0">
                <a:solidFill>
                  <a:srgbClr val="5B6472"/>
                </a:solidFill>
                <a:latin typeface="Calibri"/>
              </a:rPr>
              <a:t>a way to find any answer</a:t>
            </a:r>
          </a:p>
        </p:txBody>
      </p:sp>
      <p:sp>
        <p:nvSpPr>
          <p:cNvPr id="15" name="Rounded Rectangle 14"/>
          <p:cNvSpPr/>
          <p:nvPr/>
        </p:nvSpPr>
        <p:spPr>
          <a:xfrm>
            <a:off x="6675120" y="2834640"/>
            <a:ext cx="1417320" cy="731520"/>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675120" y="2880360"/>
            <a:ext cx="1417320" cy="320040"/>
          </a:xfrm>
          <a:prstGeom prst="rect">
            <a:avLst/>
          </a:prstGeom>
          <a:noFill/>
        </p:spPr>
        <p:txBody>
          <a:bodyPr wrap="square" lIns="0" tIns="0" rIns="0" bIns="0" anchor="t">
            <a:spAutoFit/>
          </a:bodyPr>
          <a:lstStyle/>
          <a:p>
            <a:pPr algn="ctr"/>
            <a:r>
              <a:rPr sz="1500" b="0" i="0">
                <a:solidFill>
                  <a:srgbClr val="5B6472"/>
                </a:solidFill>
                <a:latin typeface="Calibri"/>
              </a:rPr>
              <a:t>1 fold</a:t>
            </a:r>
          </a:p>
        </p:txBody>
      </p:sp>
      <p:sp>
        <p:nvSpPr>
          <p:cNvPr id="17" name="TextBox 16"/>
          <p:cNvSpPr txBox="1"/>
          <p:nvPr/>
        </p:nvSpPr>
        <p:spPr>
          <a:xfrm>
            <a:off x="6675120" y="3154680"/>
            <a:ext cx="1417320" cy="365760"/>
          </a:xfrm>
          <a:prstGeom prst="rect">
            <a:avLst/>
          </a:prstGeom>
          <a:noFill/>
        </p:spPr>
        <p:txBody>
          <a:bodyPr wrap="square" lIns="0" tIns="0" rIns="0" bIns="0" anchor="t">
            <a:spAutoFit/>
          </a:bodyPr>
          <a:lstStyle/>
          <a:p>
            <a:pPr algn="ctr"/>
            <a:r>
              <a:rPr sz="1800" b="1" i="0">
                <a:solidFill>
                  <a:srgbClr val="1B3A8C"/>
                </a:solidFill>
                <a:latin typeface="Calibri"/>
              </a:rPr>
              <a:t>1 crease</a:t>
            </a:r>
          </a:p>
        </p:txBody>
      </p:sp>
      <p:sp>
        <p:nvSpPr>
          <p:cNvPr id="18" name="Rounded Rectangle 17"/>
          <p:cNvSpPr/>
          <p:nvPr/>
        </p:nvSpPr>
        <p:spPr>
          <a:xfrm>
            <a:off x="8275320" y="2834640"/>
            <a:ext cx="1417320" cy="731520"/>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8275320" y="2880360"/>
            <a:ext cx="1417320" cy="320040"/>
          </a:xfrm>
          <a:prstGeom prst="rect">
            <a:avLst/>
          </a:prstGeom>
          <a:noFill/>
        </p:spPr>
        <p:txBody>
          <a:bodyPr wrap="square" lIns="0" tIns="0" rIns="0" bIns="0" anchor="t">
            <a:spAutoFit/>
          </a:bodyPr>
          <a:lstStyle/>
          <a:p>
            <a:pPr algn="ctr"/>
            <a:r>
              <a:rPr sz="1500" b="0" i="0">
                <a:solidFill>
                  <a:srgbClr val="5B6472"/>
                </a:solidFill>
                <a:latin typeface="Calibri"/>
              </a:rPr>
              <a:t>2 folds</a:t>
            </a:r>
          </a:p>
        </p:txBody>
      </p:sp>
      <p:sp>
        <p:nvSpPr>
          <p:cNvPr id="20" name="TextBox 19"/>
          <p:cNvSpPr txBox="1"/>
          <p:nvPr/>
        </p:nvSpPr>
        <p:spPr>
          <a:xfrm>
            <a:off x="8275320" y="3154680"/>
            <a:ext cx="1417320" cy="365760"/>
          </a:xfrm>
          <a:prstGeom prst="rect">
            <a:avLst/>
          </a:prstGeom>
          <a:noFill/>
        </p:spPr>
        <p:txBody>
          <a:bodyPr wrap="square" lIns="0" tIns="0" rIns="0" bIns="0" anchor="t">
            <a:spAutoFit/>
          </a:bodyPr>
          <a:lstStyle/>
          <a:p>
            <a:pPr algn="ctr"/>
            <a:r>
              <a:rPr sz="1800" b="1" i="0">
                <a:solidFill>
                  <a:srgbClr val="1B3A8C"/>
                </a:solidFill>
                <a:latin typeface="Calibri"/>
              </a:rPr>
              <a:t>3 creases</a:t>
            </a:r>
          </a:p>
        </p:txBody>
      </p:sp>
      <p:sp>
        <p:nvSpPr>
          <p:cNvPr id="21" name="Rounded Rectangle 20"/>
          <p:cNvSpPr/>
          <p:nvPr/>
        </p:nvSpPr>
        <p:spPr>
          <a:xfrm>
            <a:off x="9875520" y="2834640"/>
            <a:ext cx="1417320" cy="731520"/>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9875520" y="2880360"/>
            <a:ext cx="1417320" cy="320040"/>
          </a:xfrm>
          <a:prstGeom prst="rect">
            <a:avLst/>
          </a:prstGeom>
          <a:noFill/>
        </p:spPr>
        <p:txBody>
          <a:bodyPr wrap="square" lIns="0" tIns="0" rIns="0" bIns="0" anchor="t">
            <a:spAutoFit/>
          </a:bodyPr>
          <a:lstStyle/>
          <a:p>
            <a:pPr algn="ctr"/>
            <a:r>
              <a:rPr sz="1500" b="0" i="0">
                <a:solidFill>
                  <a:srgbClr val="5B6472"/>
                </a:solidFill>
                <a:latin typeface="Calibri"/>
              </a:rPr>
              <a:t>3 folds</a:t>
            </a:r>
          </a:p>
        </p:txBody>
      </p:sp>
      <p:sp>
        <p:nvSpPr>
          <p:cNvPr id="23" name="TextBox 22"/>
          <p:cNvSpPr txBox="1"/>
          <p:nvPr/>
        </p:nvSpPr>
        <p:spPr>
          <a:xfrm>
            <a:off x="9875520" y="3154680"/>
            <a:ext cx="1417320" cy="365760"/>
          </a:xfrm>
          <a:prstGeom prst="rect">
            <a:avLst/>
          </a:prstGeom>
          <a:noFill/>
        </p:spPr>
        <p:txBody>
          <a:bodyPr wrap="square" lIns="0" tIns="0" rIns="0" bIns="0" anchor="t">
            <a:spAutoFit/>
          </a:bodyPr>
          <a:lstStyle/>
          <a:p>
            <a:pPr algn="ctr"/>
            <a:r>
              <a:rPr sz="1800" b="1" i="0">
                <a:solidFill>
                  <a:srgbClr val="1B3A8C"/>
                </a:solidFill>
                <a:latin typeface="Calibri"/>
              </a:rPr>
              <a:t>7 creases</a:t>
            </a:r>
          </a:p>
        </p:txBody>
      </p:sp>
      <p:sp>
        <p:nvSpPr>
          <p:cNvPr id="24" name="TextBox 23"/>
          <p:cNvSpPr txBox="1"/>
          <p:nvPr/>
        </p:nvSpPr>
        <p:spPr>
          <a:xfrm>
            <a:off x="6675120" y="3749039"/>
            <a:ext cx="4663440" cy="822960"/>
          </a:xfrm>
          <a:prstGeom prst="rect">
            <a:avLst/>
          </a:prstGeom>
          <a:noFill/>
        </p:spPr>
        <p:txBody>
          <a:bodyPr wrap="square" lIns="0" tIns="0" rIns="0" bIns="0" anchor="t">
            <a:spAutoFit/>
          </a:bodyPr>
          <a:lstStyle/>
          <a:p>
            <a:pPr algn="l"/>
            <a:r>
              <a:rPr sz="2200" b="1" i="0">
                <a:solidFill>
                  <a:srgbClr val="1F2937"/>
                </a:solidFill>
                <a:latin typeface="Calibri"/>
              </a:rPr>
              <a:t>The parts double each time.</a:t>
            </a:r>
          </a:p>
          <a:p>
            <a:pPr algn="l"/>
            <a:r>
              <a:rPr sz="2200" b="1" i="0">
                <a:solidFill>
                  <a:srgbClr val="1F2937"/>
                </a:solidFill>
                <a:latin typeface="Calibri"/>
              </a:rPr>
              <a:t>Creases = parts − 1</a:t>
            </a:r>
          </a:p>
        </p:txBody>
      </p:sp>
      <p:sp>
        <p:nvSpPr>
          <p:cNvPr id="25" name="Rounded Rectangle 24"/>
          <p:cNvSpPr/>
          <p:nvPr/>
        </p:nvSpPr>
        <p:spPr>
          <a:xfrm>
            <a:off x="6675120" y="4663440"/>
            <a:ext cx="4663440" cy="502920"/>
          </a:xfrm>
          <a:prstGeom prst="roundRect">
            <a:avLst>
              <a:gd name="adj" fmla="val 21818"/>
            </a:avLst>
          </a:prstGeom>
          <a:solidFill>
            <a:srgbClr val="1FA3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675120" y="4663440"/>
            <a:ext cx="4663440" cy="502920"/>
          </a:xfrm>
          <a:prstGeom prst="rect">
            <a:avLst/>
          </a:prstGeom>
          <a:noFill/>
        </p:spPr>
        <p:txBody>
          <a:bodyPr wrap="square" lIns="0" tIns="0" rIns="0" bIns="0" anchor="ctr">
            <a:spAutoFit/>
          </a:bodyPr>
          <a:lstStyle/>
          <a:p>
            <a:pPr algn="ctr"/>
            <a:r>
              <a:rPr sz="2200" b="1" i="0">
                <a:solidFill>
                  <a:srgbClr val="FFFFFF"/>
                </a:solidFill>
                <a:latin typeface="Calibri"/>
              </a:rPr>
              <a:t>4 folds → 15    5 folds → 31</a:t>
            </a:r>
          </a:p>
        </p:txBody>
      </p:sp>
      <p:sp>
        <p:nvSpPr>
          <p:cNvPr id="27" name="Rounded Rectangle 26"/>
          <p:cNvSpPr/>
          <p:nvPr/>
        </p:nvSpPr>
        <p:spPr>
          <a:xfrm>
            <a:off x="640080" y="5532120"/>
            <a:ext cx="11064240" cy="731520"/>
          </a:xfrm>
          <a:prstGeom prst="roundRect">
            <a:avLst>
              <a:gd name="adj" fmla="val 15000"/>
            </a:avLst>
          </a:prstGeom>
          <a:solidFill>
            <a:srgbClr val="1B3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640080" y="5532120"/>
            <a:ext cx="11064240" cy="731520"/>
          </a:xfrm>
          <a:prstGeom prst="rect">
            <a:avLst/>
          </a:prstGeom>
          <a:noFill/>
        </p:spPr>
        <p:txBody>
          <a:bodyPr wrap="square" lIns="0" tIns="0" rIns="0" bIns="0" anchor="ctr">
            <a:spAutoFit/>
          </a:bodyPr>
          <a:lstStyle/>
          <a:p>
            <a:pPr algn="ctr"/>
            <a:r>
              <a:rPr sz="2600" b="1" i="0">
                <a:solidFill>
                  <a:srgbClr val="FFFFFF"/>
                </a:solidFill>
                <a:latin typeface="Calibri"/>
              </a:rPr>
              <a:t>Memorising answers one question. A method answers the next one too.</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40080" y="457200"/>
            <a:ext cx="10881360" cy="822960"/>
          </a:xfrm>
          <a:prstGeom prst="rect">
            <a:avLst/>
          </a:prstGeom>
          <a:noFill/>
          <a:ln/>
        </p:spPr>
        <p:txBody>
          <a:bodyPr wrap="square" lIns="0" tIns="0" rIns="0" bIns="0" rtlCol="0" anchor="ctr"/>
          <a:lstStyle/>
          <a:p>
            <a:pPr marL="0" indent="0">
              <a:buNone/>
            </a:pPr>
            <a:r>
              <a:rPr lang="en-US" sz="4400" b="1" dirty="0">
                <a:solidFill>
                  <a:srgbClr val="1B3A8C"/>
                </a:solidFill>
                <a:latin typeface="Calibri" pitchFamily="34" charset="0"/>
                <a:ea typeface="Calibri" pitchFamily="34" charset="-122"/>
                <a:cs typeface="Calibri" pitchFamily="34" charset="-120"/>
              </a:rPr>
              <a:t>Why we put them together</a:t>
            </a:r>
            <a:endParaRPr lang="en-US" sz="4400" dirty="0"/>
          </a:p>
        </p:txBody>
      </p:sp>
      <p:sp>
        <p:nvSpPr>
          <p:cNvPr id="3" name="Shape 1"/>
          <p:cNvSpPr/>
          <p:nvPr/>
        </p:nvSpPr>
        <p:spPr>
          <a:xfrm>
            <a:off x="640080" y="1554480"/>
            <a:ext cx="3383280" cy="2560320"/>
          </a:xfrm>
          <a:prstGeom prst="roundRect">
            <a:avLst>
              <a:gd name="adj" fmla="val 5357"/>
            </a:avLst>
          </a:prstGeom>
          <a:solidFill>
            <a:srgbClr val="1B3A8C"/>
          </a:solidFill>
          <a:ln/>
        </p:spPr>
        <p:txBody>
          <a:bodyPr/>
          <a:lstStyle/>
          <a:p>
            <a:endParaRPr lang="zh-CN" altLang="en-US"/>
          </a:p>
        </p:txBody>
      </p:sp>
      <p:sp>
        <p:nvSpPr>
          <p:cNvPr id="4" name="Text 2"/>
          <p:cNvSpPr txBox="1"/>
          <p:nvPr/>
        </p:nvSpPr>
        <p:spPr>
          <a:xfrm>
            <a:off x="960120" y="1874520"/>
            <a:ext cx="2743200" cy="822960"/>
          </a:xfrm>
          <a:prstGeom prst="rect">
            <a:avLst/>
          </a:prstGeom>
          <a:noFill/>
          <a:ln/>
        </p:spPr>
        <p:txBody>
          <a:bodyPr wrap="square" lIns="0" tIns="0" rIns="0" bIns="0" rtlCol="0" anchor="ctr"/>
          <a:lstStyle/>
          <a:p>
            <a:pPr marL="0" indent="0">
              <a:buNone/>
            </a:pPr>
            <a:r>
              <a:rPr lang="en-US" sz="3200" b="1" dirty="0">
                <a:solidFill>
                  <a:srgbClr val="FFFFFF"/>
                </a:solidFill>
                <a:latin typeface="Calibri" pitchFamily="34" charset="0"/>
                <a:ea typeface="Calibri" pitchFamily="34" charset="-122"/>
                <a:cs typeface="Calibri" pitchFamily="34" charset="-120"/>
              </a:rPr>
              <a:t>Math Support</a:t>
            </a:r>
            <a:endParaRPr lang="en-US" sz="3200" dirty="0"/>
          </a:p>
        </p:txBody>
      </p:sp>
      <p:sp>
        <p:nvSpPr>
          <p:cNvPr id="5" name="Text 3"/>
          <p:cNvSpPr txBox="1"/>
          <p:nvPr/>
        </p:nvSpPr>
        <p:spPr>
          <a:xfrm>
            <a:off x="960120" y="2834640"/>
            <a:ext cx="2743200" cy="914400"/>
          </a:xfrm>
          <a:prstGeom prst="rect">
            <a:avLst/>
          </a:prstGeom>
          <a:noFill/>
          <a:ln/>
        </p:spPr>
        <p:txBody>
          <a:bodyPr wrap="square" lIns="0" tIns="0" rIns="0" bIns="0" rtlCol="0" anchor="t"/>
          <a:lstStyle/>
          <a:p>
            <a:pPr marL="0" indent="0">
              <a:buNone/>
            </a:pPr>
            <a:r>
              <a:rPr lang="en-US" sz="2200" dirty="0">
                <a:solidFill>
                  <a:srgbClr val="FFFFFF"/>
                </a:solidFill>
                <a:latin typeface="Calibri" pitchFamily="34" charset="0"/>
                <a:ea typeface="Calibri" pitchFamily="34" charset="-122"/>
                <a:cs typeface="Calibri" pitchFamily="34" charset="-120"/>
              </a:rPr>
              <a:t>keeps your child up at school</a:t>
            </a:r>
            <a:endParaRPr lang="en-US" sz="2200" dirty="0"/>
          </a:p>
        </p:txBody>
      </p:sp>
      <p:sp>
        <p:nvSpPr>
          <p:cNvPr id="6" name="Shape 4"/>
          <p:cNvSpPr/>
          <p:nvPr/>
        </p:nvSpPr>
        <p:spPr>
          <a:xfrm>
            <a:off x="4480560" y="1554480"/>
            <a:ext cx="3383280" cy="2560320"/>
          </a:xfrm>
          <a:prstGeom prst="roundRect">
            <a:avLst>
              <a:gd name="adj" fmla="val 5357"/>
            </a:avLst>
          </a:prstGeom>
          <a:solidFill>
            <a:srgbClr val="1FA37A"/>
          </a:solidFill>
          <a:ln/>
        </p:spPr>
        <p:txBody>
          <a:bodyPr/>
          <a:lstStyle/>
          <a:p>
            <a:endParaRPr lang="zh-CN" altLang="en-US"/>
          </a:p>
        </p:txBody>
      </p:sp>
      <p:sp>
        <p:nvSpPr>
          <p:cNvPr id="7" name="Text 5"/>
          <p:cNvSpPr txBox="1"/>
          <p:nvPr/>
        </p:nvSpPr>
        <p:spPr>
          <a:xfrm>
            <a:off x="4800600" y="1874520"/>
            <a:ext cx="2743200" cy="822960"/>
          </a:xfrm>
          <a:prstGeom prst="rect">
            <a:avLst/>
          </a:prstGeom>
          <a:noFill/>
          <a:ln/>
        </p:spPr>
        <p:txBody>
          <a:bodyPr wrap="square" lIns="0" tIns="0" rIns="0" bIns="0" rtlCol="0" anchor="ctr"/>
          <a:lstStyle/>
          <a:p>
            <a:pPr marL="0" indent="0">
              <a:buNone/>
            </a:pPr>
            <a:r>
              <a:rPr lang="en-US" sz="3200" b="1" dirty="0">
                <a:solidFill>
                  <a:srgbClr val="FFFFFF"/>
                </a:solidFill>
                <a:latin typeface="Calibri" pitchFamily="34" charset="0"/>
                <a:ea typeface="Calibri" pitchFamily="34" charset="-122"/>
                <a:cs typeface="Calibri" pitchFamily="34" charset="-120"/>
              </a:rPr>
              <a:t>Logic Training</a:t>
            </a:r>
            <a:endParaRPr lang="en-US" sz="3200" dirty="0"/>
          </a:p>
        </p:txBody>
      </p:sp>
      <p:sp>
        <p:nvSpPr>
          <p:cNvPr id="8" name="Text 6"/>
          <p:cNvSpPr txBox="1"/>
          <p:nvPr/>
        </p:nvSpPr>
        <p:spPr>
          <a:xfrm>
            <a:off x="4800600" y="2834640"/>
            <a:ext cx="2743200" cy="914400"/>
          </a:xfrm>
          <a:prstGeom prst="rect">
            <a:avLst/>
          </a:prstGeom>
          <a:noFill/>
          <a:ln/>
        </p:spPr>
        <p:txBody>
          <a:bodyPr wrap="square" lIns="0" tIns="0" rIns="0" bIns="0" rtlCol="0" anchor="t"/>
          <a:lstStyle/>
          <a:p>
            <a:pPr marL="0" indent="0">
              <a:buNone/>
            </a:pPr>
            <a:r>
              <a:rPr lang="en-US" sz="2200" dirty="0">
                <a:solidFill>
                  <a:srgbClr val="FFFFFF"/>
                </a:solidFill>
                <a:latin typeface="Calibri" pitchFamily="34" charset="0"/>
                <a:ea typeface="Calibri" pitchFamily="34" charset="-122"/>
                <a:cs typeface="Calibri" pitchFamily="34" charset="-120"/>
              </a:rPr>
              <a:t>prepares for new problems</a:t>
            </a:r>
            <a:endParaRPr lang="en-US" sz="2200" dirty="0"/>
          </a:p>
        </p:txBody>
      </p:sp>
      <p:sp>
        <p:nvSpPr>
          <p:cNvPr id="9" name="Shape 7"/>
          <p:cNvSpPr/>
          <p:nvPr/>
        </p:nvSpPr>
        <p:spPr>
          <a:xfrm>
            <a:off x="8321040" y="1554480"/>
            <a:ext cx="3383280" cy="2560320"/>
          </a:xfrm>
          <a:prstGeom prst="roundRect">
            <a:avLst>
              <a:gd name="adj" fmla="val 5357"/>
            </a:avLst>
          </a:prstGeom>
          <a:solidFill>
            <a:srgbClr val="F28C28"/>
          </a:solidFill>
          <a:ln/>
        </p:spPr>
        <p:txBody>
          <a:bodyPr/>
          <a:lstStyle/>
          <a:p>
            <a:endParaRPr lang="zh-CN" altLang="en-US"/>
          </a:p>
        </p:txBody>
      </p:sp>
      <p:sp>
        <p:nvSpPr>
          <p:cNvPr id="10" name="Text 8"/>
          <p:cNvSpPr txBox="1"/>
          <p:nvPr/>
        </p:nvSpPr>
        <p:spPr>
          <a:xfrm>
            <a:off x="8641080" y="1874520"/>
            <a:ext cx="2743200" cy="822960"/>
          </a:xfrm>
          <a:prstGeom prst="rect">
            <a:avLst/>
          </a:prstGeom>
          <a:noFill/>
          <a:ln/>
        </p:spPr>
        <p:txBody>
          <a:bodyPr wrap="square" lIns="0" tIns="0" rIns="0" bIns="0" rtlCol="0" anchor="ctr"/>
          <a:lstStyle/>
          <a:p>
            <a:pPr marL="0" indent="0">
              <a:buNone/>
            </a:pPr>
            <a:r>
              <a:rPr lang="en-US" sz="3200" b="1" dirty="0">
                <a:solidFill>
                  <a:srgbClr val="FFFFFF"/>
                </a:solidFill>
                <a:latin typeface="Calibri" pitchFamily="34" charset="0"/>
                <a:ea typeface="Calibri" pitchFamily="34" charset="-122"/>
                <a:cs typeface="Calibri" pitchFamily="34" charset="-120"/>
              </a:rPr>
              <a:t>English</a:t>
            </a:r>
            <a:endParaRPr lang="en-US" sz="3200" dirty="0"/>
          </a:p>
        </p:txBody>
      </p:sp>
      <p:sp>
        <p:nvSpPr>
          <p:cNvPr id="11" name="Text 9"/>
          <p:cNvSpPr txBox="1"/>
          <p:nvPr/>
        </p:nvSpPr>
        <p:spPr>
          <a:xfrm>
            <a:off x="8641080" y="2834640"/>
            <a:ext cx="2743200" cy="914400"/>
          </a:xfrm>
          <a:prstGeom prst="rect">
            <a:avLst/>
          </a:prstGeom>
          <a:noFill/>
          <a:ln/>
        </p:spPr>
        <p:txBody>
          <a:bodyPr wrap="square" lIns="0" tIns="0" rIns="0" bIns="0" rtlCol="0" anchor="t"/>
          <a:lstStyle/>
          <a:p>
            <a:pPr marL="0" indent="0">
              <a:buNone/>
            </a:pPr>
            <a:r>
              <a:rPr lang="en-US" sz="2200" dirty="0">
                <a:solidFill>
                  <a:srgbClr val="FFFFFF"/>
                </a:solidFill>
                <a:latin typeface="Calibri" pitchFamily="34" charset="0"/>
                <a:ea typeface="Calibri" pitchFamily="34" charset="-122"/>
                <a:cs typeface="Calibri" pitchFamily="34" charset="-120"/>
              </a:rPr>
              <a:t>the language of reasoning</a:t>
            </a:r>
            <a:endParaRPr lang="en-US" sz="2200" dirty="0"/>
          </a:p>
        </p:txBody>
      </p:sp>
      <p:sp>
        <p:nvSpPr>
          <p:cNvPr id="12" name="Shape 10"/>
          <p:cNvSpPr/>
          <p:nvPr/>
        </p:nvSpPr>
        <p:spPr>
          <a:xfrm>
            <a:off x="640080" y="4434840"/>
            <a:ext cx="11064240" cy="1554480"/>
          </a:xfrm>
          <a:prstGeom prst="roundRect">
            <a:avLst>
              <a:gd name="adj" fmla="val 8824"/>
            </a:avLst>
          </a:prstGeom>
          <a:solidFill>
            <a:srgbClr val="EAF1FB"/>
          </a:solidFill>
          <a:ln/>
        </p:spPr>
        <p:txBody>
          <a:bodyPr/>
          <a:lstStyle/>
          <a:p>
            <a:endParaRPr lang="zh-CN" altLang="en-US"/>
          </a:p>
        </p:txBody>
      </p:sp>
      <p:sp>
        <p:nvSpPr>
          <p:cNvPr id="13" name="Text 11"/>
          <p:cNvSpPr txBox="1"/>
          <p:nvPr/>
        </p:nvSpPr>
        <p:spPr>
          <a:xfrm>
            <a:off x="640080" y="4434840"/>
            <a:ext cx="11064240" cy="1554480"/>
          </a:xfrm>
          <a:prstGeom prst="rect">
            <a:avLst/>
          </a:prstGeom>
          <a:noFill/>
          <a:ln/>
        </p:spPr>
        <p:txBody>
          <a:bodyPr wrap="square" lIns="0" tIns="0" rIns="0" bIns="0" rtlCol="0" anchor="ctr"/>
          <a:lstStyle/>
          <a:p>
            <a:pPr marL="0" indent="0" algn="ctr">
              <a:buNone/>
            </a:pPr>
            <a:r>
              <a:rPr lang="en-US" sz="3400" b="1" dirty="0">
                <a:solidFill>
                  <a:srgbClr val="1B3A8C"/>
                </a:solidFill>
                <a:latin typeface="Calibri" pitchFamily="34" charset="0"/>
                <a:ea typeface="Calibri" pitchFamily="34" charset="-122"/>
                <a:cs typeface="Calibri" pitchFamily="34" charset="-120"/>
              </a:rPr>
              <a:t>Same week. Same idea.</a:t>
            </a:r>
            <a:endParaRPr lang="en-US" sz="3400" dirty="0"/>
          </a:p>
          <a:p>
            <a:pPr marL="0" indent="0" algn="ctr">
              <a:buNone/>
            </a:pPr>
            <a:r>
              <a:rPr lang="en-US" sz="3400" b="1" dirty="0">
                <a:solidFill>
                  <a:srgbClr val="1B3A8C"/>
                </a:solidFill>
                <a:latin typeface="Calibri" pitchFamily="34" charset="0"/>
                <a:ea typeface="Calibri" pitchFamily="34" charset="-122"/>
                <a:cs typeface="Calibri" pitchFamily="34" charset="-120"/>
              </a:rPr>
              <a:t>First support it, then stretch it.</a:t>
            </a:r>
            <a:endParaRPr lang="en-US" sz="3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7">
    <p:bg>
      <p:bgPr>
        <a:solidFill>
          <a:srgbClr val="1B3A8C"/>
        </a:solidFill>
        <a:effectLst/>
      </p:bgPr>
    </p:bg>
    <p:spTree>
      <p:nvGrpSpPr>
        <p:cNvPr id="1" name=""/>
        <p:cNvGrpSpPr/>
        <p:nvPr/>
      </p:nvGrpSpPr>
      <p:grpSpPr>
        <a:xfrm>
          <a:off x="0" y="0"/>
          <a:ext cx="0" cy="0"/>
          <a:chOff x="0" y="0"/>
          <a:chExt cx="0" cy="0"/>
        </a:xfrm>
      </p:grpSpPr>
      <p:sp>
        <p:nvSpPr>
          <p:cNvPr id="2" name="Text 0"/>
          <p:cNvSpPr txBox="1"/>
          <p:nvPr/>
        </p:nvSpPr>
        <p:spPr>
          <a:xfrm>
            <a:off x="822960" y="1097280"/>
            <a:ext cx="10515600" cy="914400"/>
          </a:xfrm>
          <a:prstGeom prst="rect">
            <a:avLst/>
          </a:prstGeom>
          <a:noFill/>
          <a:ln/>
        </p:spPr>
        <p:txBody>
          <a:bodyPr wrap="square" lIns="0" tIns="0" rIns="0" bIns="0" rtlCol="0" anchor="ctr"/>
          <a:lstStyle/>
          <a:p>
            <a:pPr marL="0" indent="0">
              <a:buNone/>
            </a:pPr>
            <a:r>
              <a:rPr lang="en-US" sz="4800" b="1" dirty="0">
                <a:solidFill>
                  <a:srgbClr val="FFFFFF"/>
                </a:solidFill>
                <a:latin typeface="Calibri" pitchFamily="34" charset="0"/>
                <a:ea typeface="Calibri" pitchFamily="34" charset="-122"/>
                <a:cs typeface="Calibri" pitchFamily="34" charset="-120"/>
              </a:rPr>
              <a:t>Come and try a lesson</a:t>
            </a:r>
            <a:endParaRPr lang="en-US" sz="4800" dirty="0"/>
          </a:p>
        </p:txBody>
      </p:sp>
      <p:sp>
        <p:nvSpPr>
          <p:cNvPr id="3" name="Text 1"/>
          <p:cNvSpPr txBox="1"/>
          <p:nvPr/>
        </p:nvSpPr>
        <p:spPr>
          <a:xfrm>
            <a:off x="822960" y="2286000"/>
            <a:ext cx="10515600" cy="914400"/>
          </a:xfrm>
          <a:prstGeom prst="rect">
            <a:avLst/>
          </a:prstGeom>
          <a:noFill/>
          <a:ln/>
        </p:spPr>
        <p:txBody>
          <a:bodyPr wrap="square" lIns="0" tIns="0" rIns="0" bIns="0" rtlCol="0" anchor="ctr"/>
          <a:lstStyle/>
          <a:p>
            <a:pPr marL="0" indent="0">
              <a:buNone/>
            </a:pPr>
            <a:r>
              <a:rPr lang="en-US" sz="5800" b="1" dirty="0">
                <a:solidFill>
                  <a:srgbClr val="F28C28"/>
                </a:solidFill>
                <a:latin typeface="Calibri" pitchFamily="34" charset="0"/>
                <a:ea typeface="Calibri" pitchFamily="34" charset="-122"/>
                <a:cs typeface="Calibri" pitchFamily="34" charset="-120"/>
              </a:rPr>
              <a:t>06 60 65 69 93</a:t>
            </a:r>
            <a:endParaRPr lang="en-US" sz="5800" dirty="0"/>
          </a:p>
        </p:txBody>
      </p:sp>
      <p:sp>
        <p:nvSpPr>
          <p:cNvPr id="4" name="Text 2"/>
          <p:cNvSpPr txBox="1"/>
          <p:nvPr/>
        </p:nvSpPr>
        <p:spPr>
          <a:xfrm>
            <a:off x="822960" y="3657600"/>
            <a:ext cx="10515600" cy="365760"/>
          </a:xfrm>
          <a:prstGeom prst="rect">
            <a:avLst/>
          </a:prstGeom>
          <a:noFill/>
          <a:ln/>
        </p:spPr>
        <p:txBody>
          <a:bodyPr wrap="square" lIns="0" tIns="0" rIns="0" bIns="0" rtlCol="0" anchor="t"/>
          <a:lstStyle/>
          <a:p>
            <a:pPr marL="0" indent="0">
              <a:buNone/>
            </a:pPr>
            <a:r>
              <a:rPr lang="en-US" sz="1800" dirty="0">
                <a:solidFill>
                  <a:srgbClr val="CADCFC"/>
                </a:solidFill>
                <a:latin typeface="Calibri" pitchFamily="34" charset="0"/>
                <a:ea typeface="Calibri" pitchFamily="34" charset="-122"/>
                <a:cs typeface="Calibri" pitchFamily="34" charset="-120"/>
              </a:rPr>
              <a:t>Where the classes take place</a:t>
            </a:r>
            <a:endParaRPr lang="en-US" sz="1800" dirty="0"/>
          </a:p>
        </p:txBody>
      </p:sp>
      <p:sp>
        <p:nvSpPr>
          <p:cNvPr id="5" name="Text 3"/>
          <p:cNvSpPr txBox="1"/>
          <p:nvPr/>
        </p:nvSpPr>
        <p:spPr>
          <a:xfrm>
            <a:off x="822960" y="4069080"/>
            <a:ext cx="10515600" cy="640080"/>
          </a:xfrm>
          <a:prstGeom prst="rect">
            <a:avLst/>
          </a:prstGeom>
          <a:noFill/>
          <a:ln/>
        </p:spPr>
        <p:txBody>
          <a:bodyPr wrap="square" lIns="0" tIns="0" rIns="0" bIns="0" rtlCol="0" anchor="t"/>
          <a:lstStyle/>
          <a:p>
            <a:pPr marL="0" indent="0">
              <a:buNone/>
            </a:pPr>
            <a:r>
              <a:rPr lang="en-US" sz="3400" b="1" dirty="0">
                <a:solidFill>
                  <a:srgbClr val="FFFFFF"/>
                </a:solidFill>
                <a:latin typeface="Calibri" pitchFamily="34" charset="0"/>
                <a:ea typeface="Calibri" pitchFamily="34" charset="-122"/>
                <a:cs typeface="Calibri" pitchFamily="34" charset="-120"/>
              </a:rPr>
              <a:t>Morning</a:t>
            </a:r>
            <a:endParaRPr lang="en-US" sz="3400" dirty="0"/>
          </a:p>
        </p:txBody>
      </p:sp>
      <p:sp>
        <p:nvSpPr>
          <p:cNvPr id="6" name="Text 4"/>
          <p:cNvSpPr txBox="1"/>
          <p:nvPr/>
        </p:nvSpPr>
        <p:spPr>
          <a:xfrm>
            <a:off x="822960" y="4754880"/>
            <a:ext cx="10515600" cy="457200"/>
          </a:xfrm>
          <a:prstGeom prst="rect">
            <a:avLst/>
          </a:prstGeom>
          <a:noFill/>
          <a:ln/>
        </p:spPr>
        <p:txBody>
          <a:bodyPr wrap="square" lIns="0" tIns="0" rIns="0" bIns="0" rtlCol="0" anchor="t"/>
          <a:lstStyle/>
          <a:p>
            <a:pPr marL="0" indent="0">
              <a:buNone/>
            </a:pPr>
            <a:r>
              <a:rPr lang="en-US" sz="2400" dirty="0">
                <a:solidFill>
                  <a:srgbClr val="FFFFFF"/>
                </a:solidFill>
                <a:latin typeface="Calibri" pitchFamily="34" charset="0"/>
                <a:ea typeface="Calibri" pitchFamily="34" charset="-122"/>
                <a:cs typeface="Calibri" pitchFamily="34" charset="-120"/>
              </a:rPr>
              <a:t>179 Av. Charles-de-Gaulle, 92200 Neuilly-sur-Seine</a:t>
            </a:r>
            <a:endParaRPr lang="en-US" sz="2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11</TotalTime>
  <Words>769</Words>
  <Application>Microsoft Macintosh PowerPoint</Application>
  <PresentationFormat>宽屏</PresentationFormat>
  <Paragraphs>98</Paragraphs>
  <Slides>8</Slides>
  <Notes>8</Notes>
  <HiddenSlides>0</HiddenSlides>
  <MMClips>0</MMClips>
  <ScaleCrop>false</ScaleCrop>
  <HeadingPairs>
    <vt:vector size="6" baseType="variant">
      <vt:variant>
        <vt:lpstr>已用的字体</vt:lpstr>
      </vt:variant>
      <vt:variant>
        <vt:i4>2</vt:i4>
      </vt:variant>
      <vt:variant>
        <vt:lpstr>主题</vt:lpstr>
      </vt:variant>
      <vt:variant>
        <vt:i4>1</vt:i4>
      </vt:variant>
      <vt:variant>
        <vt:lpstr>幻灯片标题</vt:lpstr>
      </vt:variant>
      <vt:variant>
        <vt:i4>8</vt:i4>
      </vt:variant>
    </vt:vector>
  </HeadingPairs>
  <TitlesOfParts>
    <vt:vector size="11" baseType="lpstr">
      <vt:lpstr>Arial</vt:lpstr>
      <vt:lpstr>Calibri</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Master Su</cp:lastModifiedBy>
  <cp:revision>3</cp:revision>
  <dcterms:created xsi:type="dcterms:W3CDTF">2026-10-01T14:36:18Z</dcterms:created>
  <dcterms:modified xsi:type="dcterms:W3CDTF">2026-10-01T15:05:31Z</dcterms:modified>
</cp:coreProperties>
</file>